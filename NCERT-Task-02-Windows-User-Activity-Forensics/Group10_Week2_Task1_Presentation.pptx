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problem: digital evidence is fragile. The goal is to show how acquisition, imaging, hashing, and chain of custody make evidence reliable and admissible.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week is not tool-heavy. It is a legal mapping task. We are explaining why forensic steps matter in court.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each concept simply. Authorization protects legality. Imaging protects original. Hashing proves no change. Chain of custody proves controlled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simple: PECA relates to cybercrime/information systems and lawful collection; QSO relates to admissibility and reliability of evidence in court.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this table slowly. This is the main deliverable. Give one example: if hashing is missing, someone may argue the evidence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useful for presentation. Mention that a small technical mistake can become a legal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if teacher asks how the group will work. Explain the division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key sentence. Mention the two deliverables: report and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cinematic_layered_composite_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6A6"/>
                </a:solidFill>
              </a:rPr>
              <a:t>Week 2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48640" y="105156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Acquisition &amp; Imaging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48640" y="168249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9FF"/>
                </a:solidFill>
              </a:rPr>
              <a:t>Legal &amp; Admissibility Mapping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23317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4F7FA"/>
                </a:solidFill>
              </a:rPr>
              <a:t>Goal: connect forensic steps (imaging, hashing, chain of custody) with court admissibility requirements.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66928" y="3255264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10A6A6">
              <a:alpha val="94000"/>
            </a:srgbClr>
          </a:solidFill>
          <a:ln w="12700">
            <a:solidFill>
              <a:srgbClr val="10A6A6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3323844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Group 10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874520" y="3255264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1172B8">
              <a:alpha val="94000"/>
            </a:srgbClr>
          </a:solidFill>
          <a:ln w="12700">
            <a:solidFill>
              <a:srgbClr val="1172B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84248" y="3323844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3–5 min talk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520440" y="3255264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5B4CC4">
              <a:alpha val="94000"/>
            </a:srgbClr>
          </a:solidFill>
          <a:ln w="12700">
            <a:solidFill>
              <a:srgbClr val="5B4CC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30168" y="3323844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5–10 slides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6928" y="6263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9E8"/>
                </a:solidFill>
              </a:rPr>
              <a:t>PKCERT Digital Forensics Internship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2191695" cy="27432"/>
          </a:xfrm>
          <a:prstGeom prst="rect">
            <a:avLst/>
          </a:prstGeom>
          <a:solidFill>
            <a:srgbClr val="062A4F"/>
          </a:solidFill>
          <a:ln w="12700">
            <a:solidFill>
              <a:srgbClr val="062A4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Task Asks Us To Do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</a:rPr>
              <a:t>Convert technical forensic steps into a legal admissibility map.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2057400" cy="1051560"/>
          </a:xfrm>
          <a:prstGeom prst="chevron">
            <a:avLst/>
          </a:prstGeom>
          <a:solidFill>
            <a:srgbClr val="1172B8"/>
          </a:solidFill>
          <a:ln w="12700">
            <a:solidFill>
              <a:srgbClr val="1172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27632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880360" y="2029968"/>
            <a:ext cx="868680" cy="0"/>
          </a:xfrm>
          <a:prstGeom prst="line">
            <a:avLst/>
          </a:prstGeom>
          <a:noFill/>
          <a:ln w="17780">
            <a:solidFill>
              <a:srgbClr val="062A4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86200" y="1508760"/>
            <a:ext cx="2377440" cy="1051560"/>
          </a:xfrm>
          <a:prstGeom prst="chevron">
            <a:avLst/>
          </a:prstGeom>
          <a:solidFill>
            <a:srgbClr val="10A6A6"/>
          </a:solidFill>
          <a:ln w="12700">
            <a:solidFill>
              <a:srgbClr val="10A6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618488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IDENTIFY RISKS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55080" y="2029968"/>
            <a:ext cx="868680" cy="0"/>
          </a:xfrm>
          <a:prstGeom prst="line">
            <a:avLst/>
          </a:prstGeom>
          <a:noFill/>
          <a:ln w="17780">
            <a:solidFill>
              <a:srgbClr val="062A4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60920" y="1508760"/>
            <a:ext cx="2377440" cy="1051560"/>
          </a:xfrm>
          <a:prstGeom prst="chevron">
            <a:avLst/>
          </a:prstGeom>
          <a:solidFill>
            <a:srgbClr val="5B4CC4"/>
          </a:solidFill>
          <a:ln w="12700">
            <a:solidFill>
              <a:srgbClr val="5B4CC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618488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REPORT + PPT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2A4F"/>
                </a:solidFill>
              </a:rPr>
              <a:t>Task in one sentence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</a:rPr>
              <a:t>Show how imaging, hashing, and chain of custody support admissibility under PECA 2016 and the Qanun-e-Shahadat Order.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36092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2A4F"/>
                </a:solidFill>
              </a:rPr>
              <a:t>Expected deliverables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88352" y="3511296"/>
            <a:ext cx="384048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• Legal mapping table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• Top admissibility risks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• Short 3–5 minute presentation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• Formal report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Group 10  |  Week 2: Evidence Acquisition &amp; Imaging — Legal &amp; Admissibility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2191695" cy="27432"/>
          </a:xfrm>
          <a:prstGeom prst="rect">
            <a:avLst/>
          </a:prstGeom>
          <a:solidFill>
            <a:srgbClr val="062A4F"/>
          </a:solidFill>
          <a:ln w="12700">
            <a:solidFill>
              <a:srgbClr val="062A4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 We Must Explain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</a:rPr>
              <a:t>These four ideas make digital evidence technically strong and legally defensible.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08760" y="3310128"/>
            <a:ext cx="9144000" cy="0"/>
          </a:xfrm>
          <a:prstGeom prst="line">
            <a:avLst/>
          </a:prstGeom>
          <a:noFill/>
          <a:ln w="31750">
            <a:solidFill>
              <a:srgbClr val="B8C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468880"/>
            <a:ext cx="777240" cy="777240"/>
          </a:xfrm>
          <a:prstGeom prst="ellipse">
            <a:avLst/>
          </a:prstGeom>
          <a:solidFill>
            <a:srgbClr val="5B4CC4"/>
          </a:solidFill>
          <a:ln w="12700">
            <a:solidFill>
              <a:srgbClr val="5B4CC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25968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538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4F"/>
                </a:solidFill>
              </a:rPr>
              <a:t>Authorization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21488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Evidence must be collected with legal permission or official authority.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160520" y="2468880"/>
            <a:ext cx="777240" cy="777240"/>
          </a:xfrm>
          <a:prstGeom prst="ellipse">
            <a:avLst/>
          </a:prstGeom>
          <a:solidFill>
            <a:srgbClr val="1172B8"/>
          </a:solidFill>
          <a:ln w="12700">
            <a:solidFill>
              <a:srgbClr val="1172B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0248" y="25968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💽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3538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4F"/>
                </a:solidFill>
              </a:rPr>
              <a:t>Forensic Imaging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3950208"/>
            <a:ext cx="21488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Create an exact copy so the original device remains protected.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040880" y="2468880"/>
            <a:ext cx="777240" cy="7772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25968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#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3538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4F"/>
                </a:solidFill>
              </a:rPr>
              <a:t>Hashing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950208"/>
            <a:ext cx="21488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A digital fingerprint proves the image and original match.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9921240" y="2468880"/>
            <a:ext cx="777240" cy="777240"/>
          </a:xfrm>
          <a:prstGeom prst="ellipse">
            <a:avLst/>
          </a:prstGeom>
          <a:solidFill>
            <a:srgbClr val="10A6A6"/>
          </a:solidFill>
          <a:ln w="12700">
            <a:solidFill>
              <a:srgbClr val="10A6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30968" y="25968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72600" y="35387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4F"/>
                </a:solidFill>
              </a:rPr>
              <a:t>Chain of Custody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1160" y="3950208"/>
            <a:ext cx="21488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A record showing who handled evidence, when, and why.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1234440" y="55321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A4F"/>
                </a:solidFill>
              </a:rPr>
              <a:t>Simple idea: collect legally → copy safely → verify integrity → document handling.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Group 10  |  Week 2: Evidence Acquisition &amp; Imaging — Legal &amp; Admissibility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2191695" cy="27432"/>
          </a:xfrm>
          <a:prstGeom prst="rect">
            <a:avLst/>
          </a:prstGeom>
          <a:solidFill>
            <a:srgbClr val="062A4F"/>
          </a:solidFill>
          <a:ln w="12700">
            <a:solidFill>
              <a:srgbClr val="062A4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Legal Framework: How the Law Connects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</a:rPr>
              <a:t>We connect technical evidence handling with legal requirements.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9D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41732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9D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737360"/>
            <a:ext cx="585216" cy="585216"/>
          </a:xfrm>
          <a:prstGeom prst="ellipse">
            <a:avLst/>
          </a:prstGeom>
          <a:solidFill>
            <a:srgbClr val="1172B8"/>
          </a:solidFill>
          <a:ln w="12700">
            <a:solidFill>
              <a:srgbClr val="1172B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6424" y="181965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⚖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720840" y="1737360"/>
            <a:ext cx="585216" cy="585216"/>
          </a:xfrm>
          <a:prstGeom prst="ellipse">
            <a:avLst/>
          </a:prstGeom>
          <a:solidFill>
            <a:srgbClr val="5B4CC4"/>
          </a:solidFill>
          <a:ln w="12700">
            <a:solidFill>
              <a:srgbClr val="5B4CC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1424" y="181965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📜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55648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62A4F"/>
                </a:solidFill>
              </a:rPr>
              <a:t>PECA 2016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70648" y="1755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62A4F"/>
                </a:solidFill>
              </a:rPr>
              <a:t>Qanun-e-Shahadat Order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05840" y="2514600"/>
            <a:ext cx="4389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02A43"/>
                </a:solidFill>
              </a:rPr>
              <a:t>Focus: electronic crimes, information systems, electronic data, lawful access, copying, and investigation powers.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1005840" y="3703320"/>
            <a:ext cx="4389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172B8"/>
                </a:solidFill>
              </a:rPr>
              <a:t>Use in our report: explains why the data source and acquisition process must be legally authorized.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6720840" y="2514600"/>
            <a:ext cx="4389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02A43"/>
                </a:solidFill>
              </a:rPr>
              <a:t>Focus: whether evidence is relevant, reliable, authentic, preserved, and explainable in court.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6720840" y="3703320"/>
            <a:ext cx="4389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5B4CC4"/>
                </a:solidFill>
              </a:rPr>
              <a:t>Use in our report: explains why hash values, chain of custody, and documentation are needed.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5989320" y="2011680"/>
            <a:ext cx="201168" cy="0"/>
          </a:xfrm>
          <a:prstGeom prst="line">
            <a:avLst/>
          </a:prstGeom>
          <a:noFill/>
          <a:ln w="38100">
            <a:solidFill>
              <a:srgbClr val="10A6A6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92024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4F"/>
                </a:solidFill>
              </a:rPr>
              <a:t>Technical steps must support both: legal collection + admissible proof.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Group 10  |  Week 2: Evidence Acquisition &amp; Imaging — Legal &amp; Admissibility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2191695" cy="27432"/>
          </a:xfrm>
          <a:prstGeom prst="rect">
            <a:avLst/>
          </a:prstGeom>
          <a:solidFill>
            <a:srgbClr val="062A4F"/>
          </a:solidFill>
          <a:ln w="12700">
            <a:solidFill>
              <a:srgbClr val="062A4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Technical-to-Legal Mapping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</a:rPr>
              <a:t>This table is the core output of the task.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743200" cy="594360"/>
          </a:xfrm>
          <a:prstGeom prst="rect">
            <a:avLst/>
          </a:prstGeom>
          <a:solidFill>
            <a:srgbClr val="062A4F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721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Technical step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325880"/>
            <a:ext cx="3657600" cy="594360"/>
          </a:xfrm>
          <a:prstGeom prst="rect">
            <a:avLst/>
          </a:prstGeom>
          <a:solidFill>
            <a:srgbClr val="062A4F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47218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we do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1325880"/>
            <a:ext cx="4114800" cy="594360"/>
          </a:xfrm>
          <a:prstGeom prst="rect">
            <a:avLst/>
          </a:prstGeom>
          <a:solidFill>
            <a:srgbClr val="062A4F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14721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Legal value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1920240"/>
            <a:ext cx="27432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0665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Authorization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74720" y="1920240"/>
            <a:ext cx="3657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0665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Collect evidence lawfully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0" y="1920240"/>
            <a:ext cx="41148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20665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Avoid illegal collection challenge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2514600"/>
            <a:ext cx="2743200" cy="594360"/>
          </a:xfrm>
          <a:prstGeom prst="rect">
            <a:avLst/>
          </a:prstGeom>
          <a:solidFill>
            <a:srgbClr val="F2FAFA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6609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Imaging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74720" y="2514600"/>
            <a:ext cx="3657600" cy="594360"/>
          </a:xfrm>
          <a:prstGeom prst="rect">
            <a:avLst/>
          </a:prstGeom>
          <a:solidFill>
            <a:srgbClr val="F2FAFA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6609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Work on a copy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32320" y="2514600"/>
            <a:ext cx="4114800" cy="594360"/>
          </a:xfrm>
          <a:prstGeom prst="rect">
            <a:avLst/>
          </a:prstGeom>
          <a:solidFill>
            <a:srgbClr val="F2FAFA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266090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Protect original evidence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" y="3108960"/>
            <a:ext cx="27432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2552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Hashing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474720" y="3108960"/>
            <a:ext cx="3657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2552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Verify no change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132320" y="3108960"/>
            <a:ext cx="41148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32552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Prove integrity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31520" y="3703320"/>
            <a:ext cx="2743200" cy="594360"/>
          </a:xfrm>
          <a:prstGeom prst="rect">
            <a:avLst/>
          </a:prstGeom>
          <a:solidFill>
            <a:srgbClr val="F2FAFA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8496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Chain of custody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474720" y="3703320"/>
            <a:ext cx="3657600" cy="594360"/>
          </a:xfrm>
          <a:prstGeom prst="rect">
            <a:avLst/>
          </a:prstGeom>
          <a:solidFill>
            <a:srgbClr val="F2FAFA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8496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Record every handler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132320" y="3703320"/>
            <a:ext cx="4114800" cy="594360"/>
          </a:xfrm>
          <a:prstGeom prst="rect">
            <a:avLst/>
          </a:prstGeom>
          <a:solidFill>
            <a:srgbClr val="F2FAFA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38496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Prove control and authenticity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31520" y="4297680"/>
            <a:ext cx="27432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4439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Documentation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474720" y="4297680"/>
            <a:ext cx="3657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444398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Record tools, time, method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132320" y="4297680"/>
            <a:ext cx="41148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44439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Make findings explainable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22960" y="5257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A4F"/>
                </a:solidFill>
              </a:rPr>
              <a:t>How to present this slide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1248" y="5623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02A43"/>
                </a:solidFill>
              </a:rPr>
              <a:t>“Each forensic step has a legal purpose. If we skip the step, evidence becomes easier to challenge.”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Group 10  |  Week 2: Evidence Acquisition &amp; Imaging — Legal &amp; Admissibility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2191695" cy="27432"/>
          </a:xfrm>
          <a:prstGeom prst="rect">
            <a:avLst/>
          </a:prstGeom>
          <a:solidFill>
            <a:srgbClr val="062A4F"/>
          </a:solidFill>
          <a:ln w="12700">
            <a:solidFill>
              <a:srgbClr val="062A4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Admissibility Risks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</a:rPr>
              <a:t>These mistakes can weaken digital evidence in court.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3375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55064"/>
            <a:ext cx="512064" cy="51206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1746504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0744" y="16093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A4F"/>
                </a:solidFill>
              </a:rPr>
              <a:t>No legal authorization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80744" y="1929384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Evidence collection may be challenged.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33375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655064"/>
            <a:ext cx="512064" cy="51206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1746504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9784" y="16093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A4F"/>
                </a:solidFill>
              </a:rPr>
              <a:t>No hash value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29784" y="1929384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Integrity cannot be proved.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1417320"/>
            <a:ext cx="33375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655064"/>
            <a:ext cx="512064" cy="51206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3336" y="1746504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78824" y="16093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A4F"/>
                </a:solidFill>
              </a:rPr>
              <a:t>Broken chain of custody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878824" y="1929384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Handling history becomes doubtful.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2926080"/>
            <a:ext cx="33375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163824"/>
            <a:ext cx="512064" cy="51206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" y="3255264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80744" y="311810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A4F"/>
                </a:solidFill>
              </a:rPr>
              <a:t>Original evidence changed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80744" y="3438144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Authenticity becomes weak.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43400" y="2926080"/>
            <a:ext cx="33375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163824"/>
            <a:ext cx="512064" cy="51206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54296" y="3255264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29784" y="311810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A4F"/>
                </a:solidFill>
              </a:rPr>
              <a:t>Poor documentation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129784" y="3438144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Process cannot be explained clearly.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92440" y="2926080"/>
            <a:ext cx="33375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3163824"/>
            <a:ext cx="512064" cy="512064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03336" y="3255264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878824" y="311810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A4F"/>
                </a:solidFill>
              </a:rPr>
              <a:t>Insecure storage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878824" y="3438144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2A43"/>
                </a:solidFill>
              </a:rPr>
              <a:t>Risk of tampering or loss.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60120" y="4983480"/>
            <a:ext cx="10149840" cy="658368"/>
          </a:xfrm>
          <a:prstGeom prst="roundRect">
            <a:avLst>
              <a:gd name="adj" fmla="val 11111"/>
            </a:avLst>
          </a:prstGeom>
          <a:solidFill>
            <a:srgbClr val="EAF6F6"/>
          </a:solidFill>
          <a:ln w="12700">
            <a:solidFill>
              <a:srgbClr val="B8DD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519379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2A4F"/>
                </a:solidFill>
              </a:rPr>
              <a:t>Risk control idea: authorization + imaging + hashing + chain of custody + documentation = stronger admissibility.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Group 10  |  Week 2: Evidence Acquisition &amp; Imaging — Legal &amp; Admissibility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2191695" cy="27432"/>
          </a:xfrm>
          <a:prstGeom prst="rect">
            <a:avLst/>
          </a:prstGeom>
          <a:solidFill>
            <a:srgbClr val="062A4F"/>
          </a:solidFill>
          <a:ln w="12700">
            <a:solidFill>
              <a:srgbClr val="062A4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 Division for 3 Group Members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</a:rPr>
              <a:t>A simple plan to finish the report and presentation quickly.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9D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1691640"/>
            <a:ext cx="585216" cy="585216"/>
          </a:xfrm>
          <a:prstGeom prst="ellipse">
            <a:avLst/>
          </a:prstGeom>
          <a:solidFill>
            <a:srgbClr val="5B4CC4"/>
          </a:solidFill>
          <a:ln w="12700">
            <a:solidFill>
              <a:srgbClr val="5B4CC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03704" y="177393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📚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97280" y="24505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616B"/>
                </a:solidFill>
              </a:rPr>
              <a:t>Member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A4F"/>
                </a:solidFill>
              </a:rPr>
              <a:t>Legal Research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4015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</a:rPr>
              <a:t>PECA 2016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</a:rPr>
              <a:t>Qanun-e-Shahadat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</a:rPr>
              <a:t>reported judgments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9D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1691640"/>
            <a:ext cx="585216" cy="585216"/>
          </a:xfrm>
          <a:prstGeom prst="ellipse">
            <a:avLst/>
          </a:prstGeom>
          <a:solidFill>
            <a:srgbClr val="1172B8"/>
          </a:solidFill>
          <a:ln w="12700">
            <a:solidFill>
              <a:srgbClr val="1172B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7024" y="177393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🧩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800600" y="24505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616B"/>
                </a:solidFill>
              </a:rPr>
              <a:t>Member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2788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A4F"/>
                </a:solidFill>
              </a:rPr>
              <a:t>Technical Mapping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34015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</a:rPr>
              <a:t>imaging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</a:rPr>
              <a:t>hashing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</a:rPr>
              <a:t>chain of custody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183880" y="141732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9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0" y="1691640"/>
            <a:ext cx="585216" cy="585216"/>
          </a:xfrm>
          <a:prstGeom prst="ellipse">
            <a:avLst/>
          </a:prstGeom>
          <a:solidFill>
            <a:srgbClr val="10A6A6"/>
          </a:solidFill>
          <a:ln w="12700">
            <a:solidFill>
              <a:srgbClr val="10A6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10344" y="177393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📝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503920" y="24505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616B"/>
                </a:solidFill>
              </a:rPr>
              <a:t>Member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2788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A4F"/>
                </a:solidFill>
              </a:rPr>
              <a:t>Report &amp; Slides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49640" y="34015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</a:rPr>
              <a:t>format report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</a:rPr>
              <a:t>prepare PPT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02A43"/>
                </a:solidFill>
              </a:rPr>
              <a:t>final review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011680" y="5486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A4F"/>
                </a:solidFill>
              </a:rPr>
              <a:t>Final review must be done by all members before submission.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Group 10  |  Week 2: Evidence Acquisition &amp; Imaging — Legal &amp; Admissibility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"/>
            <a:ext cx="12191695" cy="27432"/>
          </a:xfrm>
          <a:prstGeom prst="rect">
            <a:avLst/>
          </a:prstGeom>
          <a:solidFill>
            <a:srgbClr val="062A4F"/>
          </a:solidFill>
          <a:ln w="12700">
            <a:solidFill>
              <a:srgbClr val="062A4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62A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Message for the Presentation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16B"/>
                </a:solidFill>
              </a:rPr>
              <a:t>This is the conclusion the audience should remember.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10607040" cy="1874520"/>
          </a:xfrm>
          <a:prstGeom prst="roundRect">
            <a:avLst>
              <a:gd name="adj" fmla="val 4878"/>
            </a:avLst>
          </a:prstGeom>
          <a:solidFill>
            <a:srgbClr val="062A4F"/>
          </a:solidFill>
          <a:ln w="12700">
            <a:solidFill>
              <a:srgbClr val="062A4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74520"/>
            <a:ext cx="9966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Digital evidence becomes strong when it is collected legally, copied safely, verified with hash values, and tracked through chain of custody.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60120" y="3913632"/>
            <a:ext cx="4800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023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A4F"/>
                </a:solidFill>
              </a:rPr>
              <a:t>Legal mapping table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08960" y="40233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technical step → legal purpose → risk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217920" y="3913632"/>
            <a:ext cx="4800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4023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A4F"/>
                </a:solidFill>
              </a:rPr>
              <a:t>Top risks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366760" y="40233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missing hash, weak chain, poor documentation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960120" y="4828032"/>
            <a:ext cx="4800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9377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A4F"/>
                </a:solidFill>
              </a:rPr>
              <a:t>Formal report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108960" y="49377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cover page, mapping, risks, conclusion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17920" y="4828032"/>
            <a:ext cx="4800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49377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A4F"/>
                </a:solidFill>
              </a:rPr>
              <a:t>Short PPT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66760" y="49377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3–5 minutes, 5–10 slides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4709160" y="5989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A6A6"/>
                </a:solidFill>
              </a:rPr>
              <a:t>Thank you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</a:rPr>
              <a:t>Group 10  |  Week 2: Evidence Acquisition &amp; Imaging — Legal &amp; Admissibility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47572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PKCERT Digital Forensics Internship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Group10 Week2 Task1 Presentation</dc:title>
  <dc:subject>Week 2 Evidence Acquisition &amp; Imaging — Legal &amp; Admissibility</dc:subject>
  <dc:creator>Group 10</dc:creator>
  <cp:lastModifiedBy>Group 10</cp:lastModifiedBy>
  <cp:revision>1</cp:revision>
  <dcterms:created xsi:type="dcterms:W3CDTF">2026-07-11T17:50:19Z</dcterms:created>
  <dcterms:modified xsi:type="dcterms:W3CDTF">2026-07-11T17:50:19Z</dcterms:modified>
</cp:coreProperties>
</file>