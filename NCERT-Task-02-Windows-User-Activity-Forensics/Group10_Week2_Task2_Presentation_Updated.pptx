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30ab1473044ed" /><Relationship Type="http://schemas.openxmlformats.org/officeDocument/2006/relationships/extended-properties" Target="/docProps/app.xml" Id="R8c8a221b1df64c99" /><Relationship Type="http://schemas.openxmlformats.org/officeDocument/2006/relationships/officeDocument" Target="/ppt/presentation.xml" Id="R8d3ff684e60f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2d37165bd5448e"/>
  </p:sldMasterIdLst>
  <p:notesMasterIdLst>
    <p:notesMasterId xmlns:r="http://schemas.openxmlformats.org/officeDocument/2006/relationships" r:id="R0c4609e9181e49ec"/>
  </p:notesMasterIdLst>
  <p:sldIdLst>
    <p:sldId xmlns:r="http://schemas.openxmlformats.org/officeDocument/2006/relationships" id="256" r:id="Racebc00d709a44e7"/>
    <p:sldId xmlns:r="http://schemas.openxmlformats.org/officeDocument/2006/relationships" id="257" r:id="R389f2d0acd434526"/>
    <p:sldId xmlns:r="http://schemas.openxmlformats.org/officeDocument/2006/relationships" id="258" r:id="R7d31309ea8b34d6c"/>
    <p:sldId xmlns:r="http://schemas.openxmlformats.org/officeDocument/2006/relationships" id="259" r:id="Rfaa7dd1b13304d5a"/>
    <p:sldId xmlns:r="http://schemas.openxmlformats.org/officeDocument/2006/relationships" id="260" r:id="Rc62cf20de2de4bcd"/>
    <p:sldId xmlns:r="http://schemas.openxmlformats.org/officeDocument/2006/relationships" id="261" r:id="Rc77de9179ab24df3"/>
    <p:sldId xmlns:r="http://schemas.openxmlformats.org/officeDocument/2006/relationships" id="262" r:id="Rdf54a9165bf2452e"/>
    <p:sldId xmlns:r="http://schemas.openxmlformats.org/officeDocument/2006/relationships" id="263" r:id="Rcdc4c4586a2e42a4"/>
    <p:sldId xmlns:r="http://schemas.openxmlformats.org/officeDocument/2006/relationships" id="264" r:id="R907f71edbbfc4ca8"/>
    <p:sldId xmlns:r="http://schemas.openxmlformats.org/officeDocument/2006/relationships" id="265" r:id="R4dd063a724444b8f"/>
    <p:sldId xmlns:r="http://schemas.openxmlformats.org/officeDocument/2006/relationships" id="266" r:id="R4ca296ec138a458c"/>
    <p:sldId xmlns:r="http://schemas.openxmlformats.org/officeDocument/2006/relationships" id="267" r:id="R646434cbfb7142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a00f15e9f04e6c" /><Relationship Type="http://schemas.openxmlformats.org/officeDocument/2006/relationships/slideMaster" Target="/ppt/slideMasters/slideMaster1.xml" Id="R712d37165bd5448e" /><Relationship Type="http://schemas.openxmlformats.org/officeDocument/2006/relationships/notesMaster" Target="/ppt/notesMasters/notesMaster1.xml" Id="R0c4609e9181e49ec" /><Relationship Type="http://schemas.openxmlformats.org/officeDocument/2006/relationships/presProps" Target="/ppt/presProps.xml" Id="Rd327cd78da6c44fd" /><Relationship Type="http://schemas.openxmlformats.org/officeDocument/2006/relationships/tableStyles" Target="/ppt/tableStyles.xml" Id="R2e646738dbfd41fd" /><Relationship Type="http://schemas.openxmlformats.org/officeDocument/2006/relationships/slide" Target="/ppt/slides/slide1.xml" Id="Racebc00d709a44e7" /><Relationship Type="http://schemas.openxmlformats.org/officeDocument/2006/relationships/slide" Target="/ppt/slides/slide2.xml" Id="R389f2d0acd434526" /><Relationship Type="http://schemas.openxmlformats.org/officeDocument/2006/relationships/slide" Target="/ppt/slides/slide3.xml" Id="R7d31309ea8b34d6c" /><Relationship Type="http://schemas.openxmlformats.org/officeDocument/2006/relationships/slide" Target="/ppt/slides/slide4.xml" Id="Rfaa7dd1b13304d5a" /><Relationship Type="http://schemas.openxmlformats.org/officeDocument/2006/relationships/slide" Target="/ppt/slides/slide5.xml" Id="Rc62cf20de2de4bcd" /><Relationship Type="http://schemas.openxmlformats.org/officeDocument/2006/relationships/slide" Target="/ppt/slides/slide6.xml" Id="Rc77de9179ab24df3" /><Relationship Type="http://schemas.openxmlformats.org/officeDocument/2006/relationships/slide" Target="/ppt/slides/slide7.xml" Id="Rdf54a9165bf2452e" /><Relationship Type="http://schemas.openxmlformats.org/officeDocument/2006/relationships/slide" Target="/ppt/slides/slide8.xml" Id="Rcdc4c4586a2e42a4" /><Relationship Type="http://schemas.openxmlformats.org/officeDocument/2006/relationships/slide" Target="/ppt/slides/slide9.xml" Id="R907f71edbbfc4ca8" /><Relationship Type="http://schemas.openxmlformats.org/officeDocument/2006/relationships/slide" Target="/ppt/slides/slide10.xml" Id="R4dd063a724444b8f" /><Relationship Type="http://schemas.openxmlformats.org/officeDocument/2006/relationships/slide" Target="/ppt/slides/slide11.xml" Id="R4ca296ec138a458c" /><Relationship Type="http://schemas.openxmlformats.org/officeDocument/2006/relationships/slide" Target="/ppt/slides/slide12.xml" Id="R646434cbfb71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1a00540bbd4e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c3044de31047c9" /><Relationship Type="http://schemas.openxmlformats.org/officeDocument/2006/relationships/notesMaster" Target="/ppt/notesMasters/notesMaster1.xml" Id="Re5a5eea7397147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639d513bd490c" /><Relationship Type="http://schemas.openxmlformats.org/officeDocument/2006/relationships/notesMaster" Target="/ppt/notesMasters/notesMaster1.xml" Id="R896e4c9495154f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b78bb99efb4599" /><Relationship Type="http://schemas.openxmlformats.org/officeDocument/2006/relationships/notesMaster" Target="/ppt/notesMasters/notesMaster1.xml" Id="R75ce6726fe8e46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84b3425e941bc" /><Relationship Type="http://schemas.openxmlformats.org/officeDocument/2006/relationships/notesMaster" Target="/ppt/notesMasters/notesMaster1.xml" Id="Re6818906dc9142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dfa372c36e4f2f" /><Relationship Type="http://schemas.openxmlformats.org/officeDocument/2006/relationships/notesMaster" Target="/ppt/notesMasters/notesMaster1.xml" Id="Rb21d1bfd24ce47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624471af30414d" /><Relationship Type="http://schemas.openxmlformats.org/officeDocument/2006/relationships/notesMaster" Target="/ppt/notesMasters/notesMaster1.xml" Id="R35682f88b31c42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c12245c1041c3" /><Relationship Type="http://schemas.openxmlformats.org/officeDocument/2006/relationships/notesMaster" Target="/ppt/notesMasters/notesMaster1.xml" Id="Rf467f2bf28a949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e855d8cbe64343" /><Relationship Type="http://schemas.openxmlformats.org/officeDocument/2006/relationships/notesMaster" Target="/ppt/notesMasters/notesMaster1.xml" Id="R9c303cf670f349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8a6c3b3c3e47eb" /><Relationship Type="http://schemas.openxmlformats.org/officeDocument/2006/relationships/notesMaster" Target="/ppt/notesMasters/notesMaster1.xml" Id="R9499b5226f0a45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c347e2f7984f60" /><Relationship Type="http://schemas.openxmlformats.org/officeDocument/2006/relationships/notesMaster" Target="/ppt/notesMasters/notesMaster1.xml" Id="Racc7b3f0cc384b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69a547cc664863" /><Relationship Type="http://schemas.openxmlformats.org/officeDocument/2006/relationships/notesMaster" Target="/ppt/notesMasters/notesMaster1.xml" Id="Rff6780f8075d42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241680a9834f1b" /><Relationship Type="http://schemas.openxmlformats.org/officeDocument/2006/relationships/notesMaster" Target="/ppt/notesMasters/notesMaster1.xml" Id="Ra3571d35eaad49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3fc8f518043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316bd73fc947a3" /><Relationship Type="http://schemas.openxmlformats.org/officeDocument/2006/relationships/slideLayout" Target="/ppt/slideLayouts/slideLayout1.xml" Id="R99c58f6383d14b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58f6383d14b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453af15c44874" /><Relationship Type="http://schemas.openxmlformats.org/officeDocument/2006/relationships/image" Target="/ppt/media/image.png" Id="R859069d576a74150" /><Relationship Type="http://schemas.openxmlformats.org/officeDocument/2006/relationships/notesSlide" Target="/ppt/notesSlides/notesSlide1.xml" Id="Rc58832ef4a63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8673737064302" /><Relationship Type="http://schemas.openxmlformats.org/officeDocument/2006/relationships/notesSlide" Target="/ppt/notesSlides/notesSlide2.xml" Id="Rf59a30ba7402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9038290a8416f" /><Relationship Type="http://schemas.openxmlformats.org/officeDocument/2006/relationships/notesSlide" Target="/ppt/notesSlides/notesSlide3.xml" Id="Rf1e0c102369444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76777247749f1" /><Relationship Type="http://schemas.openxmlformats.org/officeDocument/2006/relationships/notesSlide" Target="/ppt/notesSlides/notesSlide4.xml" Id="Raa39d5c7acf9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ac60784444ec2" /><Relationship Type="http://schemas.openxmlformats.org/officeDocument/2006/relationships/notesSlide" Target="/ppt/notesSlides/notesSlide5.xml" Id="R55ce226367ba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0116da1fb444c" /><Relationship Type="http://schemas.openxmlformats.org/officeDocument/2006/relationships/notesSlide" Target="/ppt/notesSlides/notesSlide6.xml" Id="Rc89296fe633e42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28eb2502245db" /><Relationship Type="http://schemas.openxmlformats.org/officeDocument/2006/relationships/notesSlide" Target="/ppt/notesSlides/notesSlide7.xml" Id="R02587d32dfe9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042c7100c40f5" /><Relationship Type="http://schemas.openxmlformats.org/officeDocument/2006/relationships/notesSlide" Target="/ppt/notesSlides/notesSlide8.xml" Id="R897f33fdb7f042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8f600f56947af" /><Relationship Type="http://schemas.openxmlformats.org/officeDocument/2006/relationships/notesSlide" Target="/ppt/notesSlides/notesSlide9.xml" Id="R24bf3de06af343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115c61c7a4049" /><Relationship Type="http://schemas.openxmlformats.org/officeDocument/2006/relationships/notesSlide" Target="/ppt/notesSlides/notesSlide10.xml" Id="R99155f85118f4a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dd195a4214549" /><Relationship Type="http://schemas.openxmlformats.org/officeDocument/2006/relationships/notesSlide" Target="/ppt/notesSlides/notesSlide11.xml" Id="R5e348ac8c78c4b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c333c87174855" /><Relationship Type="http://schemas.openxmlformats.org/officeDocument/2006/relationships/notesSlide" Target="/ppt/notesSlides/notesSlide12.xml" Id="R64e2d6f7b87e42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069d576a741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4E481-377F-44A6-A578-9BC92D8F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45C09-B4DF-4214-B951-AF39D4E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PKCERT DIGITAL FORENSICS INTERNSHIP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A1D15-701B-468D-9C68-6B616825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Evidence Acquisition</a:t>
            </a:r>
          </a:p>
          <a:p xmlns:a="http://schemas.openxmlformats.org/drawingml/2006/main">
            <a:pPr algn="l">
              <a:defRPr sz="4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&amp; Imaging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C7387-D433-47BC-B353-5478B3A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Legal and Admissibility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12660-EB77-4AA4-BABA-FEF61690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749BD-87D1-46AF-B85C-436723F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1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1F6"/>
                </a:solidFill>
                <a:latin typeface="Aptos"/>
                <a:ea typeface="Aptos"/>
                <a:cs typeface="Aptos"/>
              </a:rPr>
              <a:t>Week 2 · Task 2  |  Forensic Investigation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CEC47-FD5F-4ABA-A8A1-5308C16E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BA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9BAC8"/>
                </a:solidFill>
                <a:latin typeface="Aptos"/>
                <a:ea typeface="Aptos"/>
                <a:cs typeface="Aptos"/>
              </a:rPr>
              <a:t>Group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D4B77-E531-4A78-8CF7-A26D5131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Muhammad Ubaid  ·  Imtiaz Ali  ·  Javeria Hayat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183D2-9F7B-4EC3-A196-B898C1A9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A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AC8"/>
                </a:solidFill>
                <a:latin typeface="Aptos"/>
                <a:ea typeface="Aptos"/>
                <a:cs typeface="Aptos"/>
              </a:rPr>
              <a:t>15 July 2026</a:t>
            </a:r>
          </a:p>
        </p:txBody>
      </p:sp>
    </p:spTree>
    <p:extLst>
      <p:ext uri="{BB962C8B-B14F-4D97-AF65-F5344CB8AC3E}">
        <p14:creationId xmlns:p14="http://schemas.microsoft.com/office/powerpoint/2010/main" val="766257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E00F6-1BE9-49D3-80D6-FF211EF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EVIDENCE ACQUISITION &amp; IMAGING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EA073-C7E5-4990-AF50-B1ED1482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Good tools are not enough for court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51882-3BD8-4013-9181-86FC70B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2931C-51EC-4D2D-9A84-BC369BBD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DD910-0548-4740-95EC-E18E60DF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B4EEE-0EB9-44B9-95A6-753A188C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1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Digital evidence must be collected, copied, checked, and documented in a way that proves it stayed unchanged.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66817-E340-48BD-BE89-1BECBD10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6572250" cy="1600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0628F-1BBF-41ED-882B-D67DF8F7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The main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05CCB-6456-4F06-9764-A5936F06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3"/>
                </a:solidFill>
                <a:latin typeface="Aptos"/>
                <a:ea typeface="Aptos"/>
                <a:cs typeface="Aptos"/>
              </a:rPr>
              <a:t>Can we prove that the evidence shown in court is the same evidence that was originally found?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1F580-8403-415D-94E9-A01BF203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964E9-9501-407D-A7AC-B3603E10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3 things the court needs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00DFA-1A46-4B19-9F3B-ADCD56F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Integrity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DDBD2-717F-4E01-9949-300567E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Authenticity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BBCD3-EAC7-43AF-AC48-646F7FD8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Complete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B339B-E8A1-4DF3-BF9C-126CAF60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Technical steps and legal rules work together.</a:t>
            </a:r>
          </a:p>
        </p:txBody>
      </p:sp>
    </p:spTree>
    <p:extLst>
      <p:ext uri="{BB962C8B-B14F-4D97-AF65-F5344CB8AC3E}">
        <p14:creationId xmlns:p14="http://schemas.microsoft.com/office/powerpoint/2010/main" val="1162580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193A23-D7D9-4ED3-BDD8-2C4604D7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EVIDENCE ACQUISITION &amp; IMAGING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22F9D-C8F8-4BDE-A918-CD6A546B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 controlled process protects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06BCD-9BA8-4FFF-92F1-43936593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FF5BB-7BA3-4ED5-98F3-76D59150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A4B2A-D6BB-484D-8107-A3F1D1D3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9930B-91C4-411C-BC23-472466FC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466850" cy="26670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08D01-F4EE-45FB-AD24-765FE7B1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9F7CD-91C7-46F0-8A38-48AFC1B7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Seize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572D0-5CA6-4F28-AFDE-9CA5CB9B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596EF-7182-435B-8622-9758EB9B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Record device condition and location.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BC288-713E-4305-8B92-8726069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466850" cy="26670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D6E48-9901-4DDB-B446-EA888F08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594BB-E853-4742-A2DF-DFAF59E5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6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Write-block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9F4C6-FFC7-46F9-8ED5-5969B76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C2778-B511-4523-8DDE-A17889E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Stop any change to the original device.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86304-25E8-4EB8-8D84-8DE8AF0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1466850" cy="26670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107EF-82B1-4A25-A3C9-8A5901D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297F7-6EA2-47C7-B3A6-49A6A57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150F0-8B8E-4DEE-B185-DF52AE5D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EEACC-5016-4276-9BD2-F297F8AE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Create a full bit-by-bit copy.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7994A-F4FB-458F-9FF2-97342BA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466850" cy="26670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96401-861D-460B-ADB5-A00431A7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B5A22F-AAB1-4DD2-B856-BFC67923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D12A3-987F-4150-9B80-FD48460E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B68D2F-8545-493B-9357-E012E39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Compare digital fingerprints.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7BF02-70D9-46C6-863E-098B6898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1466850" cy="26670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0D65C0-01B1-4AA1-9E83-B0176F23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2D7462-AC81-4BB9-9D85-BDA977CC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6BA7DA-AA17-4DD8-AEAF-9E81DE37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BD1EA-D433-4E60-B5E0-BB935816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Work only on the verified copy.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6E4075-661C-4AE9-AB9F-3B591728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9750"/>
            <a:ext cx="1466850" cy="26670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8EF8D6-8A10-4E31-90EC-3340048F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EA391-0887-49AA-94C5-561F55FD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Document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1EF0A-C98F-472B-865B-E65AC575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527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C4FA44-6B0C-4511-B613-F2E3D683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194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1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1F6"/>
                </a:solidFill>
                <a:latin typeface="Aptos"/>
                <a:ea typeface="Aptos"/>
                <a:cs typeface="Aptos"/>
              </a:rPr>
              <a:t>Log every action and handover.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268FBF-F609-40A3-9D4D-FAEAE709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Result: the copy can be linked back to the original without unexplained changes.</a:t>
            </a:r>
          </a:p>
        </p:txBody>
      </p:sp>
    </p:spTree>
    <p:extLst>
      <p:ext uri="{BB962C8B-B14F-4D97-AF65-F5344CB8AC3E}">
        <p14:creationId xmlns:p14="http://schemas.microsoft.com/office/powerpoint/2010/main" val="1486052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518F81-A25E-4A71-A373-781267B8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LEGAL FRAMEWORK · QSO 1984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F25B7-BBD0-45AB-888F-5009E1E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QSO gives digital evidence legal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C2425-A54D-4074-B8F2-148836C6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B08AD-6B0C-412D-BE48-D8EAFBAA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68E62-D9B0-4967-9D92-EBB7011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4EC14-A09C-4FBC-9F18-DE30810D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The Qanun-e-Shahadat Order explains when electronic evidence can be accepted and proved in court.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DDA7F-B252-4E6C-8FD6-BECF45C2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Article 164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35DF0-7B3D-4AD2-97D4-0021B01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9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Modern devices and techniques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4CD45-C9F9-458A-9911-64E65BDC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622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Allows courts to accept evidence produced through modern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E11BB-8E3A-44B6-9515-7ABB8EA6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70736-3362-4FA5-856F-9E8071E4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Article 73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6EB890-1D25-4527-87B1-5A4638D7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Electronic 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FF1A3-6564-46C3-A537-637C8628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Treats electronic documents as primary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58BCA-5D26-4D5D-9960-107FCFBB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2F7EA-ABC3-48D4-92C7-8EB1C550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Article 78-A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C0CEA-9C2A-446F-89CF-23208BC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Authenticity and certification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D46C7-5EA9-48FD-BDD6-52F377A7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339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Requires the evidence to be shown as genuine and reliable.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48585-908E-44E7-A51F-7C7D2D95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251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EA516-53BE-47A7-8B3A-004BD847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34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Simple meaning: digital evidence is accepted when its source and authenticity can be proved.</a:t>
            </a:r>
          </a:p>
        </p:txBody>
      </p:sp>
    </p:spTree>
    <p:extLst>
      <p:ext uri="{BB962C8B-B14F-4D97-AF65-F5344CB8AC3E}">
        <p14:creationId xmlns:p14="http://schemas.microsoft.com/office/powerpoint/2010/main" val="1879054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7987B-1020-45CA-8738-430B5B2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LEGAL FRAMEWORK · PECA 2016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B01D1-D8CF-4042-9BCF-B34A769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PECA explains how evidence should be handled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E4A7A-03B1-477C-B2F1-5611E32C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D2168-2824-4BC5-8753-02B0E72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939A4-C90E-40C3-9B0B-884C709F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26D3B-3BBB-4E7A-8AC3-9FEB901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QSO focuses on acceptance in court. PECA focuses on investigation, seizure, handling, and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FB5A9-3981-43F3-B7AB-994A9BED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71450" cy="552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88187-E2EE-40D5-83CD-411E96F3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Authorized seizure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F06C1-4EF4-41B4-B91C-55798398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The officer must have proper legal authority to seize a device or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E187D-D5AE-47FD-AEF6-196006D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71450" cy="552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76099-9F7B-4322-9A49-4B4FB2F9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Secure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74698-995C-4784-B673-49072A20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Seized systems and data must be protected after collection.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7ED6F-1C22-405A-9237-5B9F7DE2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71450" cy="552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B8BBD-ECE7-4AB1-8AFC-81C0175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Chain of custody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1EC36-D6CA-484A-8732-D1FE6346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Schedule VI records each person, date, time, transfer, and reason.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39F06-5531-4E3A-9212-F234B758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71450" cy="552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91241A-B138-4088-85AF-B1EE3B30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Forensic lab 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CC961-E2FD-4C67-810C-B32ED08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911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Evidence must be handled through a controlled forensic process.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715E4-1E08-4769-B976-84A63437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PECA turns technical work into a legally defensible procedure.</a:t>
            </a:r>
          </a:p>
        </p:txBody>
      </p:sp>
    </p:spTree>
    <p:extLst>
      <p:ext uri="{BB962C8B-B14F-4D97-AF65-F5344CB8AC3E}">
        <p14:creationId xmlns:p14="http://schemas.microsoft.com/office/powerpoint/2010/main" val="1644454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BEC6B2-F450-4F73-85B6-4C551267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CASE LAW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58D8E-6FAA-45CE-B3C4-2C7FCD0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Pakistani cases show why proof and completeness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E782D-1F29-4BAF-9870-1C33E0C9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35394-A782-4EFD-83D3-450C3587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E68E0-73A2-4AE8-BD8A-F65BC698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8CC60-04E2-45FC-9CCD-A0FF6EA0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0" cy="35814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B3AAA-BFDC-40FE-858B-89B50BD7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BBA3F-231C-42A3-9463-EE1336C8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43E67-65EF-4DE0-ADEC-C497F64D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State v Ahmed Omer Sheikh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120EA-956C-4DCC-A05B-532D46EC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A recording had no clear source and no forensic proof that it was unchanged.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BC14A-26A9-45F4-9082-6D0EACE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5484E-5C73-4A52-A708-B2E62D8B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Lesson: authenticity cannot be assumed.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F614B-E15B-4380-8223-6EFD2695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333750" cy="35814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AA559-EFCB-4BF7-86E4-B96C92C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193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C2305-5357-48B7-9B47-A09F1F80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CASE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C5673-96B6-4B63-BD62-42EBBF1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Mian Khalid Pervaiz v The State</a:t>
            </a:r>
          </a:p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(2021 SCMR 522)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983CF-B081-405F-994D-95F72F77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1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1F6"/>
                </a:solidFill>
                <a:latin typeface="Aptos"/>
                <a:ea typeface="Aptos"/>
                <a:cs typeface="Aptos"/>
              </a:rPr>
              <a:t>The Supreme Court confirmed that digital evidence can be admitted when the correct procedure is followed.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DC68A-303D-4824-887C-C2C2DCF4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3D6DA-4F7A-4238-86E1-7530B280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62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Lesson: procedure supports admissibility.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259A5-CBBA-4495-A71C-449EF3B9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333750" cy="35814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53C1F-7294-4CB5-ABA3-01EB8E5D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1930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77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35435-6264-4983-8470-646BAC29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CASE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9654B-D926-496E-94BC-2184A287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Malik Khalid Pervez v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4F394-C7F6-4A85-A9BB-52DFE148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2876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Call data records were submitted without supporting recordings or transcripts.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B0708-C8EB-48B5-8409-24FF8120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287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A84CD-2D58-41AB-9499-36F8D6C5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62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Lesson: incomplete evidence may be insufficient.</a:t>
            </a:r>
          </a:p>
        </p:txBody>
      </p:sp>
    </p:spTree>
    <p:extLst>
      <p:ext uri="{BB962C8B-B14F-4D97-AF65-F5344CB8AC3E}">
        <p14:creationId xmlns:p14="http://schemas.microsoft.com/office/powerpoint/2010/main" val="1874358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F6DC5C-F029-42C2-820A-515DCD5A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TECHNICAL–LEGAL MAPPING · 1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CEE79-7AFA-4CF1-B2AA-4DCB095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Each acquisition step answers a legal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E4D2B-74D8-4FE7-A28E-D636EEB2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ADC26-B6F7-473B-8D59-20E6A18C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95096-E96A-481F-86BE-C23FCEF0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37734-E4C7-4201-AD14-DEAB1D6E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Technical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A36A8-F223-4B8C-A6A0-BFE54AEF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Legal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5CE5E-DC91-475C-8EE8-45F1AFAC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What proves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B2994-93F1-402E-9DB1-A650CADE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81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Risk if skipped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A2B9A-0D61-4FF6-B480-52A304D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D4844-0CDD-45F0-961C-9335627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9156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BA653-7605-44C9-939C-63920487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Seizure +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D2420-C4AB-49F9-850E-3E43876C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PECA authorized 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0DDF7-7017-455F-B417-837DBE9F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3360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Seizure memo, authority, device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F40E5-3F4E-4B6C-87AB-F1D9CA0E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Illegal collection 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08CAA-7873-4247-ACF7-B5D9FA3D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Write-block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C197E-8584-40F3-B948-1413A080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QSO 164 and 78-A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82656-5E95-4253-8FB3-D0143F7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Write-blocker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B9C74-FCFE-4EBF-9507-8F2F4B21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Claim that original was changed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8FA2E-BA0D-459D-86D2-BA815CC6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09156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F110C-BB96-40E9-8357-97698D3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Forensic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4C743-0187-4389-BA02-705A9680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QSO Article 73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41015-5646-4B75-9651-132E3EA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Imaging tool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09C70-727C-4B0B-97F0-D6462C8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Copy treated as unreliable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E3723-88C9-419D-892F-8F7EA4BB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Hash before + after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26CDE5-777C-4602-A811-64F1F33A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QSO Article 78-A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D967F-B06B-41C1-A84C-887A115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Matching original and image hashes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3E0DC-8A7B-4307-B1F3-B67D9FD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No proof against tampering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BC2DB-626D-4E69-84DC-4FF0FD77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Hashing and write-blocking directly support proof that the evidence stayed unchanged.</a:t>
            </a:r>
          </a:p>
        </p:txBody>
      </p:sp>
    </p:spTree>
    <p:extLst>
      <p:ext uri="{BB962C8B-B14F-4D97-AF65-F5344CB8AC3E}">
        <p14:creationId xmlns:p14="http://schemas.microsoft.com/office/powerpoint/2010/main" val="973570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9990E-82CC-41C5-8FCD-5C8E13B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TECHNICAL–LEGAL MAPPING · 2 OF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3A97F-5355-4C4F-A2C7-4D58D828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evidence trail must continue through court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53202-ACA7-421F-AE85-C0AE6FCA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0EFA0-F216-4DBC-B4CB-118D11BA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E0D06-8ACB-4612-80FA-5E8BF4AF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B5599-4771-44F6-B8B3-F8223C4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B01E1-2998-4701-9723-1D856E26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Analysis on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0312F-C9AD-4E65-9E03-911E09A4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9F38E-AA8B-455E-8C7B-8668A6EB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QSO Article 164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15EBB-846E-4711-B81D-FBF9AAC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Analysis log shows the original was not touched.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0E432-AF8F-46DD-A843-6B1E3547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C1873-B4DF-46D3-983B-67840BFB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0B176-31ED-4B13-8307-BE927307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Chain of custody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99F59-D45B-4E8D-8BB2-40D12146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415A8-8FBD-4FF8-8687-9300FFA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PECA Schedule VI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A2B2F-24A5-4DE4-8871-39B68E3D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Signed record shows every handler and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3FE80-A21C-475F-9232-40FAFD17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DD796-BF20-4A21-B717-423721B1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DBE73-205C-4B0C-ACAA-86E1FDC8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Court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54CB6-B8B2-4B4C-B574-30BE54BC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A07F0-E349-44F0-B2D6-4AEC1C3C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QSO Articles 164 and 73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07D54-6615-42F0-A252-5CECB455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Examiner testimony and full records support the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B010-71E9-416E-9D65-E7577327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251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B7E46-4BBF-4722-BCB9-0B5A41B9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4525"/>
            <a:ext cx="1034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 gap at any stage can weaken even a technically correct forensic image.</a:t>
            </a:r>
          </a:p>
        </p:txBody>
      </p:sp>
    </p:spTree>
    <p:extLst>
      <p:ext uri="{BB962C8B-B14F-4D97-AF65-F5344CB8AC3E}">
        <p14:creationId xmlns:p14="http://schemas.microsoft.com/office/powerpoint/2010/main" val="1234828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44EE4-E4AE-4AE5-8880-79A0884A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TOP ADMISSIBILITY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D969B-FB8F-4970-BC16-CEC592D3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Five mistakes can make strong evidence weak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A17E9-6F16-464D-BF1C-FDDC2BD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830D9-F527-49D2-9C80-9AC58778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61221-FAD0-4AE7-B8CB-5A0E4D95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DA556-D39F-42B2-9AEA-E1468E8E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7251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C32BF-3C58-4F0D-BA8C-FB26A84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DA32F-0DFF-486A-A690-311B3729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Broken chain of custody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AE9B4-DCBF-4CC4-9745-E6B05BEF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192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1F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1F6"/>
                </a:solidFill>
                <a:latin typeface="Aptos"/>
                <a:ea typeface="Aptos"/>
                <a:cs typeface="Aptos"/>
              </a:rPr>
              <a:t>A missing transfer or signature creates doubt.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14950-49C9-414B-9186-9951B1C3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7251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3E69E-3BBB-412B-944D-E3019E3A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FA2B2-C0A4-4ECC-8535-11ABB6DC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Missing or different hashes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B720C-6A88-43B6-969C-82BD23E6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Integrity cannot be confirmed.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12296-B1C3-4CB7-AC85-17A73285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7251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3530E-5579-495A-AF10-AB33D006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DEEA1-C021-4588-B8AD-FE454E5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Analysis on the original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A1710-BAFA-48E8-AD61-5AE61ACF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956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The evidence may be changed during examination.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0B6D5-CAE7-49D3-9520-E67922C0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7251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53156-BDE2-4FC8-A488-DFAF199D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AC6EA-361A-4182-AF71-518B0C3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Unknown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68E9E-E6AF-46C4-9BA9-8BF6697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338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The origin of the evidence cannot be proved.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3B307-8BEE-44F6-9775-A5B87567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7251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37C06-0CE2-4992-B73C-CEF16852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D174F-5F1F-4964-9F13-9CA2A0AA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Incomplete submission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79A2F-6AF8-4708-AD3C-ACA986F1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720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Logs without supporting records may not be enough.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8D3B8-1BB2-4AB0-B555-F364FC5C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25C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25C68"/>
                </a:solidFill>
                <a:latin typeface="Aptos"/>
                <a:ea typeface="Aptos"/>
                <a:cs typeface="Aptos"/>
              </a:rPr>
              <a:t>Most failures are caused by weak procedure or missing proof—not by the forensic tool itself.</a:t>
            </a:r>
          </a:p>
        </p:txBody>
      </p:sp>
    </p:spTree>
    <p:extLst>
      <p:ext uri="{BB962C8B-B14F-4D97-AF65-F5344CB8AC3E}">
        <p14:creationId xmlns:p14="http://schemas.microsoft.com/office/powerpoint/2010/main" val="1712048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23FA4A-4D0F-46EE-BD7B-44FEDE61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PRACTICAL GUIDANCE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006F9-3DE0-4BAC-9543-5EB79889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Our investigation should follow this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D9E93-4231-442D-9934-CA3705D7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DFD95-D36B-4347-A3E1-8F62303D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7FBB3-AAC6-43A8-A684-F8AD5348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4F18D-7092-4A27-A33F-F4DEFF3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1054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D3C2F-6DAA-494D-8466-A17CA35A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52387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9FBDA-59EC-44EA-9366-91CBA76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COLLECT AND PRESERVE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AE49E-60CA-4D49-923B-8FD43105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ANALYZE AND PRESENT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C2895-3545-46EA-AAEF-0459258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565EE-5B89-48A1-BC12-314C8A8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Record the device state, location, date, and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63FE0-2E1E-48D1-9471-058324B9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5EB86-918C-4556-B722-EF9CA140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Use a write-blocker before connecting the device.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F4323-CA78-4403-8F02-1506BE07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8CA70-C811-4ED9-AF89-C416E025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Create a complete forensic image.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55494-A6EE-42A6-9BDE-9D9D1396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1494C-63D9-4D97-8D81-B825B5A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Calculate and save hashes before and after imaging.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CDE5F-5CE8-4407-AD23-26A2708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B7B8F-6761-4B95-AAE5-133D6F7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Analyze only the verified image copy.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B5A3F-828C-49D1-B0C0-FA976749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6BDD4-E809-489E-B929-F46DEEE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Sign every chain-of-custody handover.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FA176-3704-4532-B8D8-7C788484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3EBFE-A2F3-4532-B23F-24179CDA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State the source of every evidence item.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EB39AD-47B7-4079-AD33-5C0117AD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F5BAB-7E56-4F85-ADAB-60E9DD6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Submit full records, not isolated fragments.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A6686-D5A1-409F-A21B-A3F833AF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If a step is not recorded, it is difficult to prove later.</a:t>
            </a:r>
          </a:p>
        </p:txBody>
      </p:sp>
    </p:spTree>
    <p:extLst>
      <p:ext uri="{BB962C8B-B14F-4D97-AF65-F5344CB8AC3E}">
        <p14:creationId xmlns:p14="http://schemas.microsoft.com/office/powerpoint/2010/main" val="2085592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06CCF1-4A56-4BFE-AD60-061CD504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B048B-A494-4863-A19E-FFA51F5E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Legal admissibility is built during acquisition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1892A-26D0-49B5-93C2-9320888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9A55E-B0DA-4414-96D7-6B85F83F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7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DAE9B-6C87-42D7-9F34-166ED909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786"/>
                </a:solidFill>
                <a:latin typeface="Aptos"/>
                <a:ea typeface="Aptos"/>
                <a:cs typeface="Aptos"/>
              </a:rPr>
              <a:t>PKCERT Digital Forensics Internship · Group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852F-9A94-47C2-9310-02765C0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QSO 1984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85BD5-8A38-4821-8563-3E06EACF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recognizes digital evidence and sets the basis for proving it in court.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F7C28-4735-4C18-A91B-A9220EBC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A8E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A8E0"/>
                </a:solidFill>
                <a:latin typeface="Aptos"/>
                <a:ea typeface="Aptos"/>
                <a:cs typeface="Aptos"/>
              </a:rPr>
              <a:t>PECA 2016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3F3C0-3328-4183-AD6C-B98F67C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4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433"/>
                </a:solidFill>
                <a:latin typeface="Aptos"/>
                <a:ea typeface="Aptos"/>
                <a:cs typeface="Aptos"/>
              </a:rPr>
              <a:t>guides lawful seizure, secure handling, and chain-of-custody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368A0-CB23-46B2-8FC8-405019B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5810250" cy="3619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1DA65-D75B-40D2-9D28-32373704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The key 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D3EA6-AAB0-47E9-A661-45895C49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Correct process</a:t>
            </a:r>
          </a:p>
          <a:p xmlns:a="http://schemas.openxmlformats.org/drawingml/2006/main">
            <a:pPr algn="ctr"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+ complete records</a:t>
            </a:r>
          </a:p>
          <a:p xmlns:a="http://schemas.openxmlformats.org/drawingml/2006/main">
            <a:pPr algn="ctr"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= defensible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B17FF-AD1E-435A-B181-C55E039F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8F1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1F6"/>
                </a:solidFill>
                <a:latin typeface="Aptos"/>
                <a:ea typeface="Aptos"/>
                <a:cs typeface="Aptos"/>
              </a:rPr>
              <a:t>Courts need proof of integrity, source, and completeness.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08948-6FC2-4858-98E6-5BEB5629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Good forensic practice and legal compliance are the same workflow.</a:t>
            </a:r>
          </a:p>
        </p:txBody>
      </p:sp>
    </p:spTree>
    <p:extLst>
      <p:ext uri="{BB962C8B-B14F-4D97-AF65-F5344CB8AC3E}">
        <p14:creationId xmlns:p14="http://schemas.microsoft.com/office/powerpoint/2010/main" val="21400752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020A2-FB52-4AD9-B6C9-F0708BFA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227FA-C0A7-4229-A65D-CE056226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Preserve the original.</a:t>
            </a:r>
          </a:p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Prove the copy.</a:t>
            </a:r>
          </a:p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Document every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DF961-1970-4A5E-BA6B-5897DD11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1CB70-0FA9-47ED-A8D3-67D62ABD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F1F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8F1F6"/>
                </a:solidFill>
                <a:latin typeface="Aptos"/>
                <a:ea typeface="Aptos"/>
                <a:cs typeface="Aptos"/>
              </a:rPr>
              <a:t>This is what allows digital evidence to stand up in court.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B7D7E-3793-4F9A-9E13-EFCF197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762250" cy="361950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C2740"/>
          </a:solidFill>
          <a:ln xmlns:a="http://schemas.openxmlformats.org/drawingml/2006/main" w="9525">
            <a:solidFill>
              <a:srgbClr val="2B58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3F2C5-134E-4101-B96D-4EBAE36A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GROUP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2DB84-F407-4660-B7EF-14F5D5BF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Muhammad Ubaid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Imtiaz Ali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Javeria Hayat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BEDA5-3E0C-4B6C-A2CE-D051BE3C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D6E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5D6E8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1F51D-4714-4048-98EC-C4255362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388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A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AC8"/>
                </a:solidFill>
                <a:latin typeface="Aptos"/>
                <a:ea typeface="Aptos"/>
                <a:cs typeface="Aptos"/>
              </a:rPr>
              <a:t>PKCERT Digital Forensics Internship · Week 2 Task 2</a:t>
            </a:r>
          </a:p>
        </p:txBody>
      </p:sp>
    </p:spTree>
    <p:extLst>
      <p:ext uri="{BB962C8B-B14F-4D97-AF65-F5344CB8AC3E}">
        <p14:creationId xmlns:p14="http://schemas.microsoft.com/office/powerpoint/2010/main" val="1727267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2026-07-16T01:07:00.0320000Z</dcterms:created>
  <dcterms:modified xsi:type="dcterms:W3CDTF">2026-07-16T01:07:00.0320000Z</dcterms:modified>
</coreProperties>
</file>