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84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777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1705740"/>
            <a:ext cx="12192000" cy="26631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77991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WEEK 2 </a:t>
            </a:r>
            <a:r>
              <a:rPr lang="en-US" sz="1400" b="1" kern="0" spc="3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TASK  </a:t>
            </a:r>
            <a:r>
              <a:rPr lang="en-US" sz="14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EVIDENCE ACQUISITION &amp; IMAGING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5810" y="198006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Digital Evidence to Legal Admissibility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31737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technical-legal analysis under the Qanun-e-Shahadat Order, 1984 and the Prevention of Electronic Crimes Act, 2016</a:t>
            </a:r>
            <a:endParaRPr lang="en-US" sz="1500" dirty="0">
              <a:solidFill>
                <a:srgbClr val="FFC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52763" y="5022148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Group 10:  </a:t>
            </a:r>
            <a:r>
              <a:rPr lang="en-US" sz="13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Imtiaz</a:t>
            </a:r>
            <a:r>
              <a:rPr lang="en-US" sz="13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Ali  - Muhammad Ubaid - </a:t>
            </a:r>
            <a:r>
              <a:rPr lang="en-US" sz="13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Javeria</a:t>
            </a:r>
            <a:r>
              <a:rPr lang="en-US" sz="13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Hayat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425" y="222613"/>
            <a:ext cx="923496" cy="10774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From Crime Scene to Courtroom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6233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2423160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Occurs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834640"/>
            <a:ext cx="1837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Hacking, fraud, or insider misuse is detected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06040" y="24231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192024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6233A"/>
          </a:solidFill>
          <a:ln/>
        </p:spPr>
      </p:sp>
      <p:sp>
        <p:nvSpPr>
          <p:cNvPr id="10" name="Text 8"/>
          <p:cNvSpPr/>
          <p:nvPr/>
        </p:nvSpPr>
        <p:spPr>
          <a:xfrm>
            <a:off x="2852928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52928" y="2423160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52928" y="2834640"/>
            <a:ext cx="1837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/ FIA collect digital evidence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24231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7760" y="192024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623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47488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47488" y="2423160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47488" y="2834640"/>
            <a:ext cx="1837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Prosecution brings evidence to court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95160" y="24231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32320" y="192024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2A1B22"/>
          </a:solidFill>
          <a:ln w="12700">
            <a:solidFill>
              <a:srgbClr val="E068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6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42048" y="2423160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Challenges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42048" y="2834640"/>
            <a:ext cx="1837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the process, not the content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89720" y="24231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326880" y="192024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6233A"/>
          </a:solidFill>
          <a:ln/>
        </p:spPr>
      </p:sp>
      <p:sp>
        <p:nvSpPr>
          <p:cNvPr id="25" name="Text 23"/>
          <p:cNvSpPr/>
          <p:nvPr/>
        </p:nvSpPr>
        <p:spPr>
          <a:xfrm>
            <a:off x="9436608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436608" y="2423160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Decides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36608" y="2834640"/>
            <a:ext cx="1837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court can rule on admissibility &amp; guilt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16233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023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Defense Actually Attack?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443484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we know this wasn't tampered with?” — gaps in chain of custody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“Prove this hash matches.” — no integrity verification available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made this copy, and are they qualified?” — examiner credibility under cross-examination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wasn't collected legally.” — no proper warrant / authorization under PECA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Digital Forensics Internship  •  Week 2 — Evidence Acquisition &amp; Imaging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Technical Process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 device between seizure and courtroom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6233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75688"/>
            <a:ext cx="457200" cy="457200"/>
          </a:xfrm>
          <a:prstGeom prst="ellipse">
            <a:avLst/>
          </a:prstGeom>
          <a:solidFill>
            <a:srgbClr val="0F2A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0756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taken into official custody; condition documented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6233A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2075688"/>
            <a:ext cx="457200" cy="457200"/>
          </a:xfrm>
          <a:prstGeom prst="ellipse">
            <a:avLst/>
          </a:prstGeom>
          <a:solidFill>
            <a:srgbClr val="0F2A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20756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Write-Blocking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6974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Hardware/software stops any write to the original device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6233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075688"/>
            <a:ext cx="457200" cy="457200"/>
          </a:xfrm>
          <a:prstGeom prst="ellipse">
            <a:avLst/>
          </a:prstGeom>
          <a:solidFill>
            <a:srgbClr val="0F2A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69680" y="20756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26974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bit-by-bit copy made — including deleted &amp; hidden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6233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270248"/>
            <a:ext cx="457200" cy="457200"/>
          </a:xfrm>
          <a:prstGeom prst="ellipse">
            <a:avLst/>
          </a:prstGeom>
          <a:solidFill>
            <a:srgbClr val="0F2A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2702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48920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fingerprint generated to prove copy = original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7680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6233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6280" y="4270248"/>
            <a:ext cx="457200" cy="457200"/>
          </a:xfrm>
          <a:prstGeom prst="ellipse">
            <a:avLst/>
          </a:prstGeom>
          <a:solidFill>
            <a:srgbClr val="0F2A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20640" y="42702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48920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examination performed only on the verified copy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6233A"/>
          </a:solidFill>
          <a:ln/>
        </p:spPr>
      </p:sp>
      <p:sp>
        <p:nvSpPr>
          <p:cNvPr id="31" name="Shape 29"/>
          <p:cNvSpPr/>
          <p:nvPr/>
        </p:nvSpPr>
        <p:spPr>
          <a:xfrm>
            <a:off x="8275320" y="4270248"/>
            <a:ext cx="457200" cy="457200"/>
          </a:xfrm>
          <a:prstGeom prst="ellipse">
            <a:avLst/>
          </a:prstGeom>
          <a:solidFill>
            <a:srgbClr val="0F2A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69680" y="42702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75320" y="48920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&amp; handler logged from seizure onward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Digital Forensics Internship  •  Week 2 — Evidence Acquisition &amp; Imaging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Qanun-e-Shahadat Order, 1984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“Is this evidence legally allowed to exist in court?”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16233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F2A3D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164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Permission Slip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3291840"/>
            <a:ext cx="3063240" cy="0"/>
          </a:xfrm>
          <a:prstGeom prst="line">
            <a:avLst/>
          </a:prstGeom>
          <a:noFill/>
          <a:ln w="19050">
            <a:solidFill>
              <a:srgbClr val="1D2C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7472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courts to accept evidence from modern devices — computers, phones, CCTV. Opens the door for digital evidence to be considered at all.</a:t>
            </a:r>
            <a:endParaRPr lang="en-US" sz="1250" dirty="0">
              <a:solidFill>
                <a:schemeClr val="bg2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1623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1031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F2A3D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73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26280" y="2606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Original, Not a Copy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526280" y="3291840"/>
            <a:ext cx="3063240" cy="0"/>
          </a:xfrm>
          <a:prstGeom prst="line">
            <a:avLst/>
          </a:prstGeom>
          <a:noFill/>
          <a:ln w="19050">
            <a:solidFill>
              <a:srgbClr val="1D2C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47472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electronic documents as primary evidence, not a weaker secondary copy — as long as it's handled properly.</a:t>
            </a:r>
            <a:endParaRPr lang="en-US" sz="1250" dirty="0">
              <a:solidFill>
                <a:schemeClr val="bg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46720" y="187452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16233A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21031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F2A3D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78-A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75320" y="2606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It's Genuine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275320" y="3291840"/>
            <a:ext cx="3063240" cy="0"/>
          </a:xfrm>
          <a:prstGeom prst="line">
            <a:avLst/>
          </a:prstGeom>
          <a:noFill/>
          <a:ln w="19050">
            <a:solidFill>
              <a:srgbClr val="1D2C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347472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certification that an electronic document is authentic and unaltered before the court fully relies on it.</a:t>
            </a:r>
            <a:endParaRPr lang="en-US" sz="1250" dirty="0">
              <a:solidFill>
                <a:schemeClr val="bg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terms: QSO gives digital evidence permission to be used in court — but only if its authenticity can be proven.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Digital Forensics Internship  •  Week 2 — Evidence Acquisition &amp; Imaging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Prevention of Electronic Crimes Act, 2016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“Was this evidence collected and handled the right way?”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766560" cy="4114800"/>
          </a:xfrm>
          <a:prstGeom prst="roundRect">
            <a:avLst>
              <a:gd name="adj" fmla="val 2222"/>
            </a:avLst>
          </a:prstGeom>
          <a:solidFill>
            <a:srgbClr val="1623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PECA Governs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officers/investigators may seize a device or demand data during an investigation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Seized devices and data must be handled securely once in custody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out procedures for dealing with seized information systems and forensic lab handling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572000"/>
            <a:ext cx="6217920" cy="0"/>
          </a:xfrm>
          <a:prstGeom prst="line">
            <a:avLst/>
          </a:prstGeom>
          <a:noFill/>
          <a:ln w="19050">
            <a:solidFill>
              <a:srgbClr val="1D2C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0060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terms: PECA is the rulebook that makes sure evidence is collected and handled the right way, with proper paperwork to back it up.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43800" y="1874520"/>
            <a:ext cx="4069080" cy="4114800"/>
          </a:xfrm>
          <a:prstGeom prst="roundRect">
            <a:avLst>
              <a:gd name="adj" fmla="val 2247"/>
            </a:avLst>
          </a:prstGeom>
          <a:solidFill>
            <a:srgbClr val="1E2A1E"/>
          </a:solidFill>
          <a:ln w="12700">
            <a:solidFill>
              <a:srgbClr val="5FC7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FC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7532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Form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818120" y="274320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PECA's rules include an official Chain of Custody form (Schedule VI) — not just best practice, but a legally recognized document.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this form at every handover (seizure → transport → lab → storage → court) creates the actual paperwork proving nothing was tampered with.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Digital Forensics Internship  •  Week 2 — Evidence Acquisition &amp; Imaging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Case Law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16233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0B1220"/>
          </a:solidFill>
          <a:ln w="12700">
            <a:solidFill>
              <a:srgbClr val="E06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State v Ahmed Omer Sheikh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3063240" cy="0"/>
          </a:xfrm>
          <a:prstGeom prst="line">
            <a:avLst/>
          </a:prstGeom>
          <a:noFill/>
          <a:ln w="19050">
            <a:solidFill>
              <a:srgbClr val="1D2C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204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recording was presented without disclosing its source or forensically confirming it wasn't altered. Court held it carried no evidentiary value.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16233A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920240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0B1220"/>
          </a:solidFill>
          <a:ln w="12700">
            <a:solidFill>
              <a:srgbClr val="5FC7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FC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3774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Mian Khalid Pervaiz v The State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26280" y="3337560"/>
            <a:ext cx="3063240" cy="0"/>
          </a:xfrm>
          <a:prstGeom prst="line">
            <a:avLst/>
          </a:prstGeom>
          <a:noFill/>
          <a:ln w="19050">
            <a:solidFill>
              <a:srgbClr val="1D2C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35204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 confirmed digital evidence is admissible under QSO Art. 164 &amp; 78-A, when correct procedure for producing and proving it is followed.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16233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1920240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0B1220"/>
          </a:solidFill>
          <a:ln w="12700">
            <a:solidFill>
              <a:srgbClr val="E06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23774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Malik Khalid Pervez v State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75320" y="3337560"/>
            <a:ext cx="3063240" cy="0"/>
          </a:xfrm>
          <a:prstGeom prst="line">
            <a:avLst/>
          </a:prstGeom>
          <a:noFill/>
          <a:ln w="19050">
            <a:solidFill>
              <a:srgbClr val="1D2C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5204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data records (CDR) were submitted without supporting transcripts or recordings. Court held raw logs alone were insufficient.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1F1A0E"/>
          </a:solidFill>
          <a:ln w="12700">
            <a:solidFill>
              <a:srgbClr val="D8B4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courts reject evidence when origin, authenticity, or completeness can't be proven — not because it's untrue.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Digital Forensics Internship  •  Week 2 — Evidence Acquisition &amp; Imaging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Technical </a:t>
            </a: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Steps </a:t>
            </a:r>
            <a:r>
              <a:rPr lang="en-US" sz="26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&amp; their</a:t>
            </a:r>
            <a:r>
              <a:rPr lang="en-US" sz="26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Legal Requirements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B4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B4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Proves Compliance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B4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If Skipped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B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Seizure &amp; Documentation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PECA 2016 — authorized seizure procedure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Seizure memo, officer authorization, device condition noted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may be excluded as illegally obtained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Write-Blocking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QSO Art. 164 &amp; 78-A — unaltered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Write-blocker log confirming original was never written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may be argued as modified during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Forensic Imaging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QSO Art. 73 — primary evidence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Imaging tool report confirming full, verified copy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may be treated as unreliable secondary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Hashing (Before &amp; After)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QSO Art. 78-A — integrity certification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hash values, original vs.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proof of authenticity — most common rejection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Digital Forensics Internship  •  Week 2 — Evidence Acquisition &amp; Imaging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Technical </a:t>
            </a: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Steps </a:t>
            </a:r>
            <a:r>
              <a:rPr lang="en-US" sz="26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&amp; their </a:t>
            </a:r>
            <a:r>
              <a:rPr lang="en-US" sz="26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Legal </a:t>
            </a: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715411"/>
              </p:ext>
            </p:extLst>
          </p:nvPr>
        </p:nvGraphicFramePr>
        <p:xfrm>
          <a:off x="548640" y="1600200"/>
          <a:ext cx="11064240" cy="3474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B4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B4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Proves Compliance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B4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If Skipped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B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on Copy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QSO Art. 164 — reliability of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log showing original was never touched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on original invites tampering claims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of Custody 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PECA 2016 — official form (Schedule VI)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custody log: every handler, date, time, reason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gap allows a tampering argument to succeed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Presentation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QSO Art. 164 &amp; 73 — final admissibility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Examiner testimony + complete documentation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trail can void otherwise valid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F2A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answers the same question a defense lawyer would ask: what proves this step was done right?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Digital Forensics Internship  •  Week 2 — Evidence Acquisition &amp; Imaging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Top 5 Admissibility Risks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16233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02536"/>
            <a:ext cx="502920" cy="502920"/>
          </a:xfrm>
          <a:prstGeom prst="ellipse">
            <a:avLst/>
          </a:prstGeom>
          <a:solidFill>
            <a:srgbClr val="2A1B22"/>
          </a:solidFill>
          <a:ln w="12700">
            <a:solidFill>
              <a:srgbClr val="E06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02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Chain of Custody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1947672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signature or unexplained gap lets the defense argue possible tampering — without needing to prove it happened.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16233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862072"/>
            <a:ext cx="502920" cy="502920"/>
          </a:xfrm>
          <a:prstGeom prst="ellipse">
            <a:avLst/>
          </a:prstGeom>
          <a:solidFill>
            <a:srgbClr val="2A1B22"/>
          </a:solidFill>
          <a:ln w="12700">
            <a:solidFill>
              <a:srgbClr val="E06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807208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Mismatched Hash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2807208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matching hash values means no mathematical proof of integrity — the single most common rejection cause.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16233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721608"/>
            <a:ext cx="502920" cy="502920"/>
          </a:xfrm>
          <a:prstGeom prst="ellipse">
            <a:avLst/>
          </a:prstGeom>
          <a:solidFill>
            <a:srgbClr val="2A1B22"/>
          </a:solidFill>
          <a:ln w="12700">
            <a:solidFill>
              <a:srgbClr val="E068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21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666744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on Original Device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26280" y="3666744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the original instead of a verified image invites arguments that examination itself altered the evidence.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45312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16233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581144"/>
            <a:ext cx="502920" cy="502920"/>
          </a:xfrm>
          <a:prstGeom prst="ellipse">
            <a:avLst/>
          </a:prstGeom>
          <a:solidFill>
            <a:srgbClr val="2A1B22"/>
          </a:solidFill>
          <a:ln w="12700">
            <a:solidFill>
              <a:srgbClr val="E068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81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52628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Undisclosed Source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26280" y="4526280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with no clear, provable origin has been rejected outright, regardless of apparent relevance.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531266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16233A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440680"/>
            <a:ext cx="502920" cy="502920"/>
          </a:xfrm>
          <a:prstGeom prst="ellipse">
            <a:avLst/>
          </a:prstGeom>
          <a:solidFill>
            <a:srgbClr val="2A1B22"/>
          </a:solidFill>
          <a:ln w="12700">
            <a:solidFill>
              <a:srgbClr val="E068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440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5385816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Submission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26280" y="5385816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evidence (e.g. logs without recordings) is held unreliable, even when the partial evidence itself is genuine.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Digital Forensics Internship  •  Week 2 — Evidence Acquisition &amp; Imaging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F1A0E"/>
          </a:solidFill>
          <a:ln w="12700">
            <a:solidFill>
              <a:srgbClr val="D8B4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D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Admissibility depends less on the sophistication of forensic tools, and more on whether each step can be proven to have been done correctly — without gaps.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6502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6949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Maintain uninterrupted chain of custody documentation at every handover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Always calculate and record hash values before and after imaging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Perform all analysis exclusively on verified image copies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Clearly document and disclose the source of all evidence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Submit complete evidence sets, not partial fragments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3291840"/>
            <a:ext cx="3749040" cy="2743200"/>
          </a:xfrm>
          <a:prstGeom prst="roundRect">
            <a:avLst>
              <a:gd name="adj" fmla="val 3333"/>
            </a:avLst>
          </a:prstGeom>
          <a:solidFill>
            <a:srgbClr val="16233A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38160" y="393192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admissibility is a built-in outcome of correct technical procedure — not a separate concern addressed after the fact.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Digital Forensics Internship  •  Week 2 — Evidence Acquisition &amp; Imaging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1208</Words>
  <Application>Microsoft Office PowerPoint</Application>
  <PresentationFormat>Widescreen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Jefekhan</cp:lastModifiedBy>
  <cp:revision>3</cp:revision>
  <dcterms:created xsi:type="dcterms:W3CDTF">2026-07-17T06:40:11Z</dcterms:created>
  <dcterms:modified xsi:type="dcterms:W3CDTF">2026-07-17T07:01:17Z</dcterms:modified>
</cp:coreProperties>
</file>