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8E9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10 • Week 2 • Evidence Acquisition &amp; Imaging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915400" y="6519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PKCERT Digital Forensics Internship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layered_composite_sc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61E36">
              <a:alpha val="97000"/>
            </a:srgbClr>
          </a:solidFill>
          <a:ln w="12700">
            <a:solidFill>
              <a:srgbClr val="061E36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Acquisition &amp; Imaging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94360" y="1783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E2D1"/>
                </a:solidFill>
              </a:rPr>
              <a:t>Legal &amp; Admissibility Mapping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FFF"/>
                </a:solidFill>
              </a:rPr>
              <a:t>Week 2 • Group 10 • Task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788920"/>
            <a:ext cx="4206240" cy="0"/>
          </a:xfrm>
          <a:prstGeom prst="line">
            <a:avLst/>
          </a:prstGeom>
          <a:noFill/>
          <a:ln w="19050">
            <a:solidFill>
              <a:srgbClr val="7DE2D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999232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Goal: connect forensic imaging, hashing, and chain of custody with court admissibility requirements.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4343400"/>
            <a:ext cx="1508760" cy="347472"/>
          </a:xfrm>
          <a:prstGeom prst="roundRect">
            <a:avLst>
              <a:gd name="adj" fmla="val 31579"/>
            </a:avLst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41655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PECA 2016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0" y="4343400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9152" y="4416552"/>
            <a:ext cx="236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Qanun-e-Shahadat Order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" y="4828032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" y="4901184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A"/>
                </a:solidFill>
              </a:rPr>
              <a:t>Admissibility Risks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Why this week is important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EDF8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37360"/>
            <a:ext cx="777240" cy="77724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810512"/>
            <a:ext cx="704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</a:rPr>
              <a:t>🎯</a:t>
            </a:r>
            <a:endParaRPr lang="en-US" sz="187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D4D"/>
                </a:solidFill>
              </a:rPr>
              <a:t>Main Question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6233F"/>
                </a:solidFill>
              </a:rPr>
              <a:t>How can we prove that digital evidence was collected legally, preserved properly, and is reliable for court?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3756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Map technical forensic steps to legal requirements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79476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Explain top admissibility risks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68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425196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Prepare 3–5 minute presentation and formal report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737360"/>
            <a:ext cx="777240" cy="77724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810512"/>
            <a:ext cx="704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</a:rPr>
              <a:t>⚖️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76352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D4D"/>
                </a:solidFill>
              </a:rPr>
              <a:t>Expected Outcome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812280" y="26060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560320"/>
            <a:ext cx="41148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A clear mapping table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30632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13448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Legal admissibility risks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12280" y="35204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3474720"/>
            <a:ext cx="41148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Short professional slides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12280" y="39776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3931920"/>
            <a:ext cx="41148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Report with conclusion and references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48280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EAF"/>
                </a:solidFill>
              </a:rPr>
              <a:t>Simple idea: evidence is useful only when the court can trust it.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Legal Framework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Two legal angles for digital evidence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F0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731520" cy="73152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85623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🛡️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D4D"/>
                </a:solidFill>
              </a:rPr>
              <a:t>PECA 2016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7452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A7B"/>
                </a:solidFill>
              </a:rPr>
              <a:t>Cybercrime / investigation side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Defines information systems and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227832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182112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Covers authorization and unauthorized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666744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621024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Recognizes making and retaining copies of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4105656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4059936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Supports investigation of electronic crimes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50876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FFF9F1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783080"/>
            <a:ext cx="731520" cy="7315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85623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📜</a:t>
            </a:r>
            <a:endParaRPr lang="en-US" sz="1760" dirty="0"/>
          </a:p>
        </p:txBody>
      </p:sp>
      <p:sp>
        <p:nvSpPr>
          <p:cNvPr id="21" name="Text 19"/>
          <p:cNvSpPr/>
          <p:nvPr/>
        </p:nvSpPr>
        <p:spPr>
          <a:xfrm>
            <a:off x="7635240" y="17556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D4D"/>
                </a:solidFill>
              </a:rPr>
              <a:t>Qanun-e-Shahadat Order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6352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46A7B"/>
                </a:solidFill>
              </a:rPr>
              <a:t>Evidence admissibility side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278892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2743200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Evidence must be relevant and reliable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3227832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3182112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Authenticity must be shown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3666744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3621024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Integrity must be protected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4105656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4059936"/>
            <a:ext cx="420624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Handling must be properly documented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6080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233F"/>
                </a:solidFill>
              </a:rPr>
              <a:t>PECA explains the cybercrime context; QSO helps the court decide whether evidence can be trusted.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Four technical steps that protect digital evidence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2331720" cy="4343400"/>
          </a:xfrm>
          <a:prstGeom prst="roundRect">
            <a:avLst>
              <a:gd name="adj" fmla="val 4706"/>
            </a:avLst>
          </a:prstGeom>
          <a:solidFill>
            <a:srgbClr val="F0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874520"/>
            <a:ext cx="822960" cy="82296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💾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Acquisition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33272" y="3337560"/>
            <a:ext cx="1828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6233F"/>
                </a:solidFill>
              </a:rPr>
              <a:t>Collect digital evidence from a device in a safe and legal way.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11880" y="1508760"/>
            <a:ext cx="2331720" cy="4343400"/>
          </a:xfrm>
          <a:prstGeom prst="roundRect">
            <a:avLst>
              <a:gd name="adj" fmla="val 4706"/>
            </a:avLst>
          </a:prstGeom>
          <a:solidFill>
            <a:srgbClr val="F7FFFB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74520"/>
            <a:ext cx="822960" cy="82296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🧩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3840480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Imaging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67912" y="3337560"/>
            <a:ext cx="1828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6233F"/>
                </a:solidFill>
              </a:rPr>
              <a:t>Create an exact copy so the original device remains protected.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1508760"/>
            <a:ext cx="2331720" cy="4343400"/>
          </a:xfrm>
          <a:prstGeom prst="roundRect">
            <a:avLst>
              <a:gd name="adj" fmla="val 4706"/>
            </a:avLst>
          </a:prstGeom>
          <a:solidFill>
            <a:srgbClr val="F0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1874520"/>
            <a:ext cx="822960" cy="82296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🔐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6675120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Hashing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02552" y="3337560"/>
            <a:ext cx="1828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6233F"/>
                </a:solidFill>
              </a:rPr>
              <a:t>Generate a digital fingerprint to verify that evidence did not change.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281160" y="1508760"/>
            <a:ext cx="2331720" cy="4343400"/>
          </a:xfrm>
          <a:prstGeom prst="roundRect">
            <a:avLst>
              <a:gd name="adj" fmla="val 4706"/>
            </a:avLst>
          </a:prstGeom>
          <a:solidFill>
            <a:srgbClr val="F7FFFB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1874520"/>
            <a:ext cx="822960" cy="82296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03536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🧾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9509760" y="2788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Chain of Custody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537192" y="3337560"/>
            <a:ext cx="1828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06233F"/>
                </a:solidFill>
              </a:rPr>
              <a:t>Record who handled the evidence, when, where, and why.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154680" y="3749040"/>
            <a:ext cx="338328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89320" y="3749040"/>
            <a:ext cx="338328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823960" y="3749040"/>
            <a:ext cx="338328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14400" y="603504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D5EAF"/>
                </a:solidFill>
              </a:rPr>
              <a:t>These steps make evidence trustworthy, repeatable, and easier to defend in court.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Step → Legal Purpose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Main mapping table for the report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063240" cy="502920"/>
          </a:xfrm>
          <a:prstGeom prst="rect">
            <a:avLst/>
          </a:prstGeom>
          <a:solidFill>
            <a:srgbClr val="0D5EA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Forensic Step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1417320"/>
            <a:ext cx="3886200" cy="502920"/>
          </a:xfrm>
          <a:prstGeom prst="rect">
            <a:avLst/>
          </a:prstGeom>
          <a:solidFill>
            <a:srgbClr val="15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54533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Legal Purpose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1417320"/>
            <a:ext cx="37947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5453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 if Missing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306324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07568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33F"/>
                </a:solidFill>
              </a:rPr>
              <a:t>Authorization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1920240"/>
            <a:ext cx="388620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075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Shows lawful access and collection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35240" y="1920240"/>
            <a:ext cx="379476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0756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Evidence may be challenged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2487168"/>
            <a:ext cx="30632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4261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33F"/>
                </a:solidFill>
              </a:rPr>
              <a:t>Forensic image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49040" y="2487168"/>
            <a:ext cx="3886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6426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Protects original evidence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2487168"/>
            <a:ext cx="37947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64261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Original may be altered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3054096"/>
            <a:ext cx="306324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0954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33F"/>
                </a:solidFill>
              </a:rPr>
              <a:t>Hash value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49040" y="3054096"/>
            <a:ext cx="388620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2095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Proves integrity and exact copy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3054096"/>
            <a:ext cx="379476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32095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Court may doubt the copy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3621024"/>
            <a:ext cx="306324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7764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33F"/>
                </a:solidFill>
              </a:rPr>
              <a:t>Chain of custody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749040" y="3621024"/>
            <a:ext cx="388620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37764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Tracks handling and control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35240" y="3621024"/>
            <a:ext cx="3794760" cy="566928"/>
          </a:xfrm>
          <a:prstGeom prst="rect">
            <a:avLst/>
          </a:prstGeom>
          <a:solidFill>
            <a:srgbClr val="FFFF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37764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Tampering may be alleged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85800" y="4187952"/>
            <a:ext cx="306324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434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33F"/>
                </a:solidFill>
              </a:rPr>
              <a:t>Documentation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749040" y="4187952"/>
            <a:ext cx="388620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6200" y="43434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Explains method clearly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635240" y="4187952"/>
            <a:ext cx="3794760" cy="566928"/>
          </a:xfrm>
          <a:prstGeom prst="rect">
            <a:avLst/>
          </a:prstGeom>
          <a:solidFill>
            <a:srgbClr val="F4FAFF"/>
          </a:solidFill>
          <a:ln w="8890">
            <a:solidFill>
              <a:srgbClr val="B7D2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43434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Process may look weak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05840" y="5074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D4D"/>
                </a:solidFill>
              </a:rPr>
              <a:t>Presentation point: connect every technical action with a legal reason.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715000" y="5486400"/>
            <a:ext cx="685800" cy="68580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1576" y="5559552"/>
            <a:ext cx="612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00"/>
                </a:solidFill>
              </a:rPr>
              <a:t>🔗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Hashing &amp; Evidence Integrity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How we prove evidence was not changed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0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6916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0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2039112"/>
            <a:ext cx="822960" cy="82296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2112264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💽</a:t>
            </a:r>
            <a:endParaRPr lang="en-US" sz="1980" dirty="0"/>
          </a:p>
        </p:txBody>
      </p:sp>
      <p:sp>
        <p:nvSpPr>
          <p:cNvPr id="9" name="Text 7"/>
          <p:cNvSpPr/>
          <p:nvPr/>
        </p:nvSpPr>
        <p:spPr>
          <a:xfrm>
            <a:off x="132588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Original Evidence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08760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233F"/>
                </a:solidFill>
              </a:rPr>
              <a:t>Hash: A1B2C3...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68512" y="2039112"/>
            <a:ext cx="822960" cy="82296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5088" y="2112264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🗂️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781812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D4D"/>
                </a:solidFill>
              </a:rPr>
              <a:t>Forensic Image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01000" y="3520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233F"/>
                </a:solidFill>
              </a:rPr>
              <a:t>Hash: A1B2C3...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3154680"/>
            <a:ext cx="256032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92040" y="2697480"/>
            <a:ext cx="1874520" cy="868680"/>
          </a:xfrm>
          <a:prstGeom prst="roundRect">
            <a:avLst>
              <a:gd name="adj" fmla="val 18947"/>
            </a:avLst>
          </a:prstGeom>
          <a:solidFill>
            <a:srgbClr val="FFF3DF"/>
          </a:solidFill>
          <a:ln w="1397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260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33F"/>
                </a:solidFill>
              </a:rPr>
              <a:t>Hash Match = Integrity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51206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1288" y="5074920"/>
            <a:ext cx="493776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Same hash means the copy matches the original.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55778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61288" y="5532120"/>
            <a:ext cx="56692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</a:rPr>
              <a:t>Different hash means possible change, corruption, or wrong source.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603504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1288" y="5989320"/>
            <a:ext cx="685800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B2D4D"/>
                </a:solidFill>
              </a:rPr>
              <a:t>Hash values should be written in the report and chain of custody form.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Chain of Custody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Record every person and action connected with the evidence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463040"/>
            <a:ext cx="731520" cy="73152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16736" y="153619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📦</a:t>
            </a:r>
            <a:endParaRPr lang="en-US" sz="1760" dirty="0"/>
          </a:p>
        </p:txBody>
      </p:sp>
      <p:sp>
        <p:nvSpPr>
          <p:cNvPr id="7" name="Shape 5"/>
          <p:cNvSpPr/>
          <p:nvPr/>
        </p:nvSpPr>
        <p:spPr>
          <a:xfrm>
            <a:off x="1389888" y="22677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9888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D"/>
                </a:solidFill>
              </a:rPr>
              <a:t>Collect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6233F"/>
                </a:solidFill>
              </a:rPr>
              <a:t>Evidence received from device/location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1828800"/>
            <a:ext cx="457200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1463040"/>
            <a:ext cx="731520" cy="73152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53619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💾</a:t>
            </a:r>
            <a:endParaRPr lang="en-US" sz="1760" dirty="0"/>
          </a:p>
        </p:txBody>
      </p:sp>
      <p:sp>
        <p:nvSpPr>
          <p:cNvPr id="14" name="Shape 12"/>
          <p:cNvSpPr/>
          <p:nvPr/>
        </p:nvSpPr>
        <p:spPr>
          <a:xfrm>
            <a:off x="3630168" y="22677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D"/>
                </a:solidFill>
              </a:rPr>
              <a:t>Image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3291840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6233F"/>
                </a:solidFill>
              </a:rPr>
              <a:t>Forensic copy created and hash recorded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57200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60720" y="1463040"/>
            <a:ext cx="731520" cy="73152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7296" y="153619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🔒</a:t>
            </a:r>
            <a:endParaRPr lang="en-US" sz="1760" dirty="0"/>
          </a:p>
        </p:txBody>
      </p:sp>
      <p:sp>
        <p:nvSpPr>
          <p:cNvPr id="21" name="Shape 19"/>
          <p:cNvSpPr/>
          <p:nvPr/>
        </p:nvSpPr>
        <p:spPr>
          <a:xfrm>
            <a:off x="5870448" y="22677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D"/>
                </a:solidFill>
              </a:rPr>
              <a:t>Store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3291840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6233F"/>
                </a:solidFill>
              </a:rPr>
              <a:t>Evidence sealed in secure storage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1828800"/>
            <a:ext cx="457200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01000" y="1463040"/>
            <a:ext cx="731520" cy="73152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37576" y="153619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🔎</a:t>
            </a:r>
            <a:endParaRPr lang="en-US" sz="1760" dirty="0"/>
          </a:p>
        </p:txBody>
      </p:sp>
      <p:sp>
        <p:nvSpPr>
          <p:cNvPr id="28" name="Shape 26"/>
          <p:cNvSpPr/>
          <p:nvPr/>
        </p:nvSpPr>
        <p:spPr>
          <a:xfrm>
            <a:off x="8110728" y="22677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8952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D"/>
                </a:solidFill>
              </a:rPr>
              <a:t>Analyze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98080" y="3291840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6233F"/>
                </a:solidFill>
              </a:rPr>
              <a:t>Only forensic copy is examined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44000" y="1828800"/>
            <a:ext cx="457200" cy="0"/>
          </a:xfrm>
          <a:prstGeom prst="line">
            <a:avLst/>
          </a:prstGeom>
          <a:noFill/>
          <a:ln w="25400">
            <a:solidFill>
              <a:srgbClr val="15A6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241280" y="1463040"/>
            <a:ext cx="731520" cy="73152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77856" y="1536192"/>
            <a:ext cx="658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</a:rPr>
              <a:t>📄</a:t>
            </a:r>
            <a:endParaRPr lang="en-US" sz="1760" dirty="0"/>
          </a:p>
        </p:txBody>
      </p:sp>
      <p:sp>
        <p:nvSpPr>
          <p:cNvPr id="35" name="Shape 33"/>
          <p:cNvSpPr/>
          <p:nvPr/>
        </p:nvSpPr>
        <p:spPr>
          <a:xfrm>
            <a:off x="10351008" y="22677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2350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29800" y="2926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4D"/>
                </a:solidFill>
              </a:rPr>
              <a:t>Report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38360" y="3291840"/>
            <a:ext cx="1737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6233F"/>
                </a:solidFill>
              </a:rPr>
              <a:t>Findings documented for presentation/court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68680" y="5120640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5EAF"/>
                </a:solidFill>
              </a:rPr>
              <a:t>Chain of custody answers: Who handled the evidence? When? Where? Why? Was it transferred?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463040" y="5623560"/>
            <a:ext cx="9235440" cy="530352"/>
          </a:xfrm>
          <a:prstGeom prst="roundRect">
            <a:avLst>
              <a:gd name="adj" fmla="val 20690"/>
            </a:avLst>
          </a:prstGeom>
          <a:solidFill>
            <a:srgbClr val="FFF8EC"/>
          </a:solidFill>
          <a:ln w="12700">
            <a:solidFill>
              <a:srgbClr val="F8CF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0" y="577900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6233F"/>
                </a:solidFill>
              </a:rPr>
              <a:t>If this record is missing, the evidence can become weak because handling cannot be proved.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Admissibility Risks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Mistakes that can weaken digital evidence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FF6F4"/>
          </a:solidFill>
          <a:ln w="12700">
            <a:solidFill>
              <a:srgbClr val="F8C2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0472" y="1581912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7048" y="1655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🚫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41832" y="2350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No legal authorization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703320" y="1417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FF6F4"/>
          </a:solidFill>
          <a:ln w="12700">
            <a:solidFill>
              <a:srgbClr val="F8C2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1581912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1655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🔓</a:t>
            </a:r>
            <a:endParaRPr lang="en-US" sz="1584" dirty="0"/>
          </a:p>
        </p:txBody>
      </p:sp>
      <p:sp>
        <p:nvSpPr>
          <p:cNvPr id="12" name="Text 10"/>
          <p:cNvSpPr/>
          <p:nvPr/>
        </p:nvSpPr>
        <p:spPr>
          <a:xfrm>
            <a:off x="3867912" y="2350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Original evidence changed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FF6F4"/>
          </a:solidFill>
          <a:ln w="12700">
            <a:solidFill>
              <a:srgbClr val="F8C2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632" y="1581912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9208" y="1655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#️⃣</a:t>
            </a:r>
            <a:endParaRPr lang="en-US" sz="1584" dirty="0"/>
          </a:p>
        </p:txBody>
      </p:sp>
      <p:sp>
        <p:nvSpPr>
          <p:cNvPr id="16" name="Text 14"/>
          <p:cNvSpPr/>
          <p:nvPr/>
        </p:nvSpPr>
        <p:spPr>
          <a:xfrm>
            <a:off x="6793992" y="2350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No hash value recorded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9555480" y="1417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FF6F4"/>
          </a:solidFill>
          <a:ln w="12700">
            <a:solidFill>
              <a:srgbClr val="F8C2B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8712" y="1581912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05288" y="1655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🧾</a:t>
            </a:r>
            <a:endParaRPr lang="en-US" sz="1584" dirty="0"/>
          </a:p>
        </p:txBody>
      </p:sp>
      <p:sp>
        <p:nvSpPr>
          <p:cNvPr id="20" name="Text 18"/>
          <p:cNvSpPr/>
          <p:nvPr/>
        </p:nvSpPr>
        <p:spPr>
          <a:xfrm>
            <a:off x="9720072" y="2350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Broken chain of custody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77240" y="3703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5FB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0472" y="3867912"/>
            <a:ext cx="658368" cy="658368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27048" y="3941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🛠️</a:t>
            </a:r>
            <a:endParaRPr lang="en-US" sz="1584" dirty="0"/>
          </a:p>
        </p:txBody>
      </p:sp>
      <p:sp>
        <p:nvSpPr>
          <p:cNvPr id="24" name="Text 22"/>
          <p:cNvSpPr/>
          <p:nvPr/>
        </p:nvSpPr>
        <p:spPr>
          <a:xfrm>
            <a:off x="941832" y="4636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Tool/version not documented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3703320" y="3703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5FB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3867912"/>
            <a:ext cx="658368" cy="658368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3941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🕒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3867912" y="4636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Time and date missing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6629400" y="3703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5FB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3867912"/>
            <a:ext cx="658368" cy="658368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3941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📦</a:t>
            </a:r>
            <a:endParaRPr lang="en-US" sz="1584" dirty="0"/>
          </a:p>
        </p:txBody>
      </p:sp>
      <p:sp>
        <p:nvSpPr>
          <p:cNvPr id="32" name="Text 30"/>
          <p:cNvSpPr/>
          <p:nvPr/>
        </p:nvSpPr>
        <p:spPr>
          <a:xfrm>
            <a:off x="6793992" y="4636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Insecure storage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9555480" y="3703320"/>
            <a:ext cx="2240280" cy="1508760"/>
          </a:xfrm>
          <a:prstGeom prst="roundRect">
            <a:avLst>
              <a:gd name="adj" fmla="val 7273"/>
            </a:avLst>
          </a:prstGeom>
          <a:solidFill>
            <a:srgbClr val="F5FB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68712" y="3867912"/>
            <a:ext cx="658368" cy="658368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05288" y="3941064"/>
            <a:ext cx="5852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</a:rPr>
              <a:t>🔗</a:t>
            </a:r>
            <a:endParaRPr lang="en-US" sz="1584" dirty="0"/>
          </a:p>
        </p:txBody>
      </p:sp>
      <p:sp>
        <p:nvSpPr>
          <p:cNvPr id="36" name="Text 34"/>
          <p:cNvSpPr/>
          <p:nvPr/>
        </p:nvSpPr>
        <p:spPr>
          <a:xfrm>
            <a:off x="9720072" y="46360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6233F"/>
                </a:solidFill>
              </a:rPr>
              <a:t>Weak technical-legal link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822960" y="57424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2D4D"/>
                </a:solidFill>
              </a:rPr>
              <a:t>Main message: strong forensic work needs both technical accuracy and legal procedure.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D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Work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A7B"/>
                </a:solidFill>
              </a:rPr>
              <a:t>Simple division for 3 members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7780">
            <a:solidFill>
              <a:srgbClr val="15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F2FA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9968" y="1874520"/>
            <a:ext cx="822960" cy="822960"/>
          </a:xfrm>
          <a:prstGeom prst="ellipse">
            <a:avLst/>
          </a:prstGeom>
          <a:solidFill>
            <a:srgbClr val="0D5EAF"/>
          </a:solidFill>
          <a:ln w="12700">
            <a:solidFill>
              <a:srgbClr val="0D5EA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66544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⚖️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6A7B"/>
                </a:solidFill>
              </a:rPr>
              <a:t>Member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1638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D4D"/>
                </a:solidFill>
              </a:rPr>
              <a:t>Legal Research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6233F"/>
                </a:solidFill>
              </a:rPr>
              <a:t>PECA 2016, QSO, reported judgments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60020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F1FFFC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24728" y="1874520"/>
            <a:ext cx="822960" cy="822960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1304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🧪</a:t>
            </a:r>
            <a:endParaRPr lang="en-US" sz="1980" dirty="0"/>
          </a:p>
        </p:txBody>
      </p:sp>
      <p:sp>
        <p:nvSpPr>
          <p:cNvPr id="14" name="Text 12"/>
          <p:cNvSpPr/>
          <p:nvPr/>
        </p:nvSpPr>
        <p:spPr>
          <a:xfrm>
            <a:off x="4892040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6A7B"/>
                </a:solidFill>
              </a:rPr>
              <a:t>Member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1638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D4D"/>
                </a:solidFill>
              </a:rPr>
              <a:t>Technical Mapping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6233F"/>
                </a:solidFill>
              </a:rPr>
              <a:t>Imaging, hashing, chain of custody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1600200"/>
            <a:ext cx="3246120" cy="3611880"/>
          </a:xfrm>
          <a:prstGeom prst="roundRect">
            <a:avLst>
              <a:gd name="adj" fmla="val 3380"/>
            </a:avLst>
          </a:prstGeom>
          <a:solidFill>
            <a:srgbClr val="FFF8ED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19488" y="1874520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6064" y="1947672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📊</a:t>
            </a:r>
            <a:endParaRPr lang="en-US" sz="1980" dirty="0"/>
          </a:p>
        </p:txBody>
      </p:sp>
      <p:sp>
        <p:nvSpPr>
          <p:cNvPr id="20" name="Text 18"/>
          <p:cNvSpPr/>
          <p:nvPr/>
        </p:nvSpPr>
        <p:spPr>
          <a:xfrm>
            <a:off x="8686800" y="2834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6A7B"/>
                </a:solidFill>
              </a:rPr>
              <a:t>Member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0" y="316382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D4D"/>
                </a:solidFill>
              </a:rPr>
              <a:t>Report &amp; Slides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23960" y="3858768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6233F"/>
                </a:solidFill>
              </a:rPr>
              <a:t>Formatting, figures, final review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5577840"/>
            <a:ext cx="9966960" cy="566928"/>
          </a:xfrm>
          <a:prstGeom prst="roundRect">
            <a:avLst>
              <a:gd name="adj" fmla="val 19355"/>
            </a:avLst>
          </a:prstGeom>
          <a:solidFill>
            <a:srgbClr val="EAF7FF"/>
          </a:solidFill>
          <a:ln w="12700">
            <a:solidFill>
              <a:srgbClr val="B7D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75157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5EAF"/>
                </a:solidFill>
              </a:rPr>
              <a:t>All members review final mapping table, risks, and conclusion before submission.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61E36"/>
          </a:solidFill>
          <a:ln w="12700">
            <a:solidFill>
              <a:srgbClr val="061E36">
                <a:alpha val="0"/>
              </a:srgbClr>
            </a:solidFill>
            <a:prstDash val="solid"/>
          </a:ln>
        </p:spPr>
      </p:sp>
      <p:pic>
        <p:nvPicPr>
          <p:cNvPr id="3" name="Image 0" descr="/mnt/data/cover_righ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0"/>
            <a:ext cx="592805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8229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Final Takeaway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" y="150876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7EFFF"/>
                </a:solidFill>
              </a:rPr>
              <a:t>Digital evidence becomes strong when it is legally collected, technically preserved, and clearly documented.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2834640"/>
            <a:ext cx="5074920" cy="2468880"/>
          </a:xfrm>
          <a:prstGeom prst="roundRect">
            <a:avLst>
              <a:gd name="adj" fmla="val 4444"/>
            </a:avLst>
          </a:prstGeom>
          <a:solidFill>
            <a:srgbClr val="061E36">
              <a:alpha val="90000"/>
            </a:srgbClr>
          </a:solidFill>
          <a:ln w="12700">
            <a:solidFill>
              <a:srgbClr val="4DAFC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320040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7008" y="315468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Forensic image protects original evidence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65760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07008" y="361188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Hashing proves integrity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411480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406908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Chain of custody proves proper handling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05840" y="4572000"/>
            <a:ext cx="109728" cy="109728"/>
          </a:xfrm>
          <a:prstGeom prst="ellipse">
            <a:avLst/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07008" y="4526280"/>
            <a:ext cx="43891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Documentation makes the process explainable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5715000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15A6A6"/>
          </a:solidFill>
          <a:ln w="12700">
            <a:solidFill>
              <a:srgbClr val="15A6A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578815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Thank You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5769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Questions?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475720" y="6510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889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PKCERT Digital Forensics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Group10_Week2_Task1_Presentation</dc:title>
  <dc:subject>Week 2 - Evidence Acquisition &amp; Imaging: Legal &amp; Admissibility</dc:subject>
  <dc:creator>Group 10</dc:creator>
  <cp:lastModifiedBy>Group 10</cp:lastModifiedBy>
  <cp:revision>1</cp:revision>
  <dcterms:created xsi:type="dcterms:W3CDTF">2026-07-11T17:58:57Z</dcterms:created>
  <dcterms:modified xsi:type="dcterms:W3CDTF">2026-07-11T17:58:57Z</dcterms:modified>
</cp:coreProperties>
</file>