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1088136" cy="1632204"/>
          </a:xfrm>
          <a:prstGeom prst="roundRect">
            <a:avLst/>
          </a:prstGeom>
          <a:noFill/>
          <a:ln w="25400">
            <a:solidFill>
              <a:srgbClr val="1B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73759" y="2313432"/>
            <a:ext cx="186537" cy="186537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548640"/>
            <a:ext cx="2194560" cy="2194560"/>
          </a:xfrm>
          <a:prstGeom prst="ellipse">
            <a:avLst/>
          </a:prstGeom>
          <a:solidFill>
            <a:srgbClr val="0E324F"/>
          </a:solidFill>
          <a:ln>
            <a:solidFill>
              <a:srgbClr val="1B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480000">
            <a:off x="9908438" y="1261872"/>
            <a:ext cx="65836" cy="713232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10193731" y="1261872"/>
            <a:ext cx="65836" cy="713232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120000">
            <a:off x="9710928" y="1481328"/>
            <a:ext cx="713232" cy="65836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1120000">
            <a:off x="9710928" y="1755648"/>
            <a:ext cx="713232" cy="65836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8FC"/>
                </a:solidFill>
                <a:latin typeface="Aptos Display"/>
              </a:defRPr>
            </a:pPr>
            <a:r>
              <a:t>Mobile Forensics &amp; Malware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63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BD1CA"/>
                </a:solidFill>
              </a:defRPr>
            </a:pPr>
            <a:r>
              <a:t>Week 7 - Acquisition /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03320"/>
            <a:ext cx="9509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4B4C7"/>
                </a:solidFill>
              </a:defRPr>
            </a:pPr>
            <a:r>
              <a:t>Logical vs file-system vs physical acquisition on a test device</a:t>
            </a:r>
            <a:br/>
            <a:r>
              <a:t>ADB • libimobiledevice • SHA-256 integrity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92040"/>
            <a:ext cx="2468880" cy="347472"/>
          </a:xfrm>
          <a:prstGeom prst="round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10327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Prepared by: Imtiaz 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892040"/>
            <a:ext cx="2377440" cy="347472"/>
          </a:xfrm>
          <a:prstGeom prst="roundRect">
            <a:avLst/>
          </a:prstGeom>
          <a:solidFill>
            <a:srgbClr val="39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910327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NCERT Internship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Task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What I needed to prove during 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411480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4864" cy="411480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7393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Forensically sound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488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Collect evidence from an authorized test device.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Record source details, method, tool versions, start/end time.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Keep original evidence separate from the working copy.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411480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54864" cy="4114800"/>
          </a:xfrm>
          <a:prstGeom prst="rect">
            <a:avLst/>
          </a:prstGeom>
          <a:solidFill>
            <a:srgbClr val="28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7393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Integrity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488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Calculate SHA-256 after acquisition.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Copy the evidence for analysis.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Calculate SHA-256 again and confirm both values match.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474720" cy="411480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54864" cy="411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77393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Malware triage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488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Collect package/APK information safely.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Do not execute suspicious applications.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Preserve hashes and metadata for later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Acquisition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Why the method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402336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4864" cy="402336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LOGICAL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User-accessible data, backups, metadata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Advantage: Low risk / fast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Limitation: Limited protected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965960"/>
            <a:ext cx="480059" cy="720090"/>
          </a:xfrm>
          <a:prstGeom prst="roundRect">
            <a:avLst/>
          </a:prstGeom>
          <a:noFill/>
          <a:ln w="25400">
            <a:solidFill>
              <a:srgbClr val="1B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45001" y="2583180"/>
            <a:ext cx="82296" cy="82296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737360"/>
            <a:ext cx="3429000" cy="402336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737360"/>
            <a:ext cx="54864" cy="4023360"/>
          </a:xfrm>
          <a:prstGeom prst="rect">
            <a:avLst/>
          </a:prstGeom>
          <a:solidFill>
            <a:srgbClr val="39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865376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FILE-SYSTEM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24028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Broader directories and app data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Advantage: More context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Limitation: Needs privileged/specialized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1965960"/>
            <a:ext cx="480059" cy="720090"/>
          </a:xfrm>
          <a:prstGeom prst="roundRect">
            <a:avLst/>
          </a:prstGeom>
          <a:noFill/>
          <a:ln w="25400">
            <a:solidFill>
              <a:srgbClr val="39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39762" y="2583180"/>
            <a:ext cx="82296" cy="82296"/>
          </a:xfrm>
          <a:prstGeom prst="ellipse">
            <a:avLst/>
          </a:prstGeom>
          <a:solidFill>
            <a:srgbClr val="39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737360"/>
            <a:ext cx="3429000" cy="402336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737360"/>
            <a:ext cx="54864" cy="4023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865376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PHYSICAL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24028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Raw/block-level storage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Advantage: Potentially widest coverage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Limitation: High complexity + modern encryption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35640" y="1965960"/>
            <a:ext cx="480059" cy="720090"/>
          </a:xfrm>
          <a:prstGeom prst="roundRect">
            <a:avLst/>
          </a:prstGeom>
          <a:noFill/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34522" y="2583180"/>
            <a:ext cx="82296" cy="8229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182B"/>
                </a:solidFill>
              </a:defRPr>
            </a:pPr>
            <a:r>
              <a:t>Acquisition Integrity Workflow</a:t>
            </a:r>
          </a:p>
        </p:txBody>
      </p:sp>
      <p:pic>
        <p:nvPicPr>
          <p:cNvPr id="4" name="Picture 3" descr="acquisiti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3685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8182B"/>
                </a:solidFill>
              </a:defRPr>
            </a:pPr>
            <a:r>
              <a:t>Core rule: analyze a working copy, not the original acquisition.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Android Logical Acquisition with ADB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Open-source practical workflow on an authorized test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657600" cy="438912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4864" cy="43891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73936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4884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Enable USB debugging on the test device.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Unlock device and accept RSA authorization.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Record model, serial, Android version, battery and network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6949440" cy="4389120"/>
          </a:xfrm>
          <a:prstGeom prst="roundRect">
            <a:avLst/>
          </a:prstGeom>
          <a:solidFill>
            <a:srgbClr val="040E1B"/>
          </a:solidFill>
          <a:ln>
            <a:solidFill>
              <a:srgbClr val="21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92024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ABF4EA"/>
                </a:solidFill>
                <a:latin typeface="Consolas"/>
              </a:defRPr>
            </a:pPr>
            <a:r>
              <a:t>adb version</a:t>
            </a:r>
          </a:p>
          <a:p>
            <a:pPr>
              <a:spcAft>
                <a:spcPts val="600"/>
              </a:spcAft>
              <a:defRPr sz="1100">
                <a:solidFill>
                  <a:srgbClr val="ABF4EA"/>
                </a:solidFill>
                <a:latin typeface="Consolas"/>
              </a:defRPr>
            </a:pPr>
            <a:r>
              <a:t>adb devices -l</a:t>
            </a:r>
          </a:p>
          <a:p>
            <a:pPr>
              <a:spcAft>
                <a:spcPts val="600"/>
              </a:spcAft>
              <a:defRPr sz="1100">
                <a:solidFill>
                  <a:srgbClr val="ABF4EA"/>
                </a:solidFill>
                <a:latin typeface="Consolas"/>
              </a:defRPr>
            </a:pPr>
            <a:r>
              <a:t>adb shell getprop &gt; logs\android_getprop.txt</a:t>
            </a:r>
          </a:p>
          <a:p>
            <a:pPr>
              <a:spcAft>
                <a:spcPts val="600"/>
              </a:spcAft>
              <a:defRPr sz="1100">
                <a:solidFill>
                  <a:srgbClr val="ABF4EA"/>
                </a:solidFill>
                <a:latin typeface="Consolas"/>
              </a:defRPr>
            </a:pPr>
            <a:r>
              <a:t>adb shell pm list packages -f -3 &gt; logs\third_party_packages.txt</a:t>
            </a:r>
          </a:p>
          <a:p>
            <a:pPr>
              <a:spcAft>
                <a:spcPts val="600"/>
              </a:spcAft>
              <a:defRPr sz="1100">
                <a:solidFill>
                  <a:srgbClr val="ABF4EA"/>
                </a:solidFill>
                <a:latin typeface="Consolas"/>
              </a:defRPr>
            </a:pPr>
            <a:r>
              <a:t>adb pull /sdcard/DCIM evidence\android\DCIM</a:t>
            </a:r>
          </a:p>
          <a:p>
            <a:pPr>
              <a:spcAft>
                <a:spcPts val="600"/>
              </a:spcAft>
              <a:defRPr sz="1100">
                <a:solidFill>
                  <a:srgbClr val="ABF4EA"/>
                </a:solidFill>
                <a:latin typeface="Consolas"/>
              </a:defRPr>
            </a:pPr>
            <a:r>
              <a:t>adb pull /sdcard/Download evidence\android\Download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5074920"/>
            <a:ext cx="6400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4B4C7"/>
                </a:solidFill>
              </a:defRPr>
            </a:pPr>
            <a:r>
              <a:t>Note: simple ADB logical collection does not equal a full file-system image on an unrooted modern device.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iOS Logical Acquisition with libimobiledevice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Pair -&gt; identify -&gt; backup -&gt;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08182B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7276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7276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BF4EA"/>
                </a:solidFill>
                <a:latin typeface="Consolas"/>
              </a:defRPr>
            </a:pPr>
            <a:r>
              <a:t>idevicepair pair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39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08182B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1576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1576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BF4EA"/>
                </a:solidFill>
                <a:latin typeface="Consolas"/>
              </a:defRPr>
            </a:pPr>
            <a:r>
              <a:t>idevicepair validate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28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08182B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5876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Record 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85876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BF4EA"/>
                </a:solidFill>
                <a:latin typeface="Consolas"/>
              </a:defRPr>
            </a:pPr>
            <a:r>
              <a:t>ideviceinfo &gt; logs/ios_device_info.txt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08182B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176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</a:defRPr>
            </a:pPr>
            <a:r>
              <a:t>Backup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0176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BF4EA"/>
                </a:solidFill>
                <a:latin typeface="Consolas"/>
              </a:defRPr>
            </a:pPr>
            <a:r>
              <a:t>idevicebackup2 backup --full evidence/ios_backup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5257800"/>
            <a:ext cx="3474720" cy="73152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525780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538581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Security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5760720"/>
            <a:ext cx="3200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Use interactive password input for encrypted backups; avoid exposing passwords in shell history.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Malware Triage - Collection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Preserve suspicious mobile artifacts without executing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29768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29768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73936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Package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List third-party packages.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Record package name and version.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Keep acquisition log with time and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29768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54864" cy="4297680"/>
          </a:xfrm>
          <a:prstGeom prst="rect">
            <a:avLst/>
          </a:prstGeom>
          <a:solidFill>
            <a:srgbClr val="39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73936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APK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4884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Use pm path to identify the APK path.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Pull the APK only where permissions allow.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Do not bypass protections outside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429768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54864" cy="4297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73936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Triage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14884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Hash the collected APK immediately.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Hash the working copy again.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Do not execute unknown samples on the normal workstation.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Integrity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The result I must show in the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46320" cy="219456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4864" cy="219456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5681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Original acquisition SHA-256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[Paste the real hash from the lab run]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4846320" cy="219456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828800"/>
            <a:ext cx="54864" cy="2194560"/>
          </a:xfrm>
          <a:prstGeom prst="rect">
            <a:avLst/>
          </a:prstGeom>
          <a:solidFill>
            <a:srgbClr val="28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195681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Working-copy 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331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[Paste the second real hash]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514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5F8FC"/>
                </a:solidFill>
              </a:defRPr>
            </a:pPr>
            <a: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4663440"/>
            <a:ext cx="3657600" cy="731520"/>
          </a:xfrm>
          <a:prstGeom prst="roundRect">
            <a:avLst/>
          </a:prstGeom>
          <a:solidFill>
            <a:srgbClr val="28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4846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</a:defRPr>
            </a:pPr>
            <a:r>
              <a:t>MATCH = Evidence copy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Full Acquisition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Minimum fields required for a verifiable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67335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Case ID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40487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Source device / serial or UDID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3639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63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Device state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86791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94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Acquisition method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59943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5262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Tool + version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33095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2578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Start time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167335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End time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240487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Evidence path / size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313639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063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SHA-256 original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386791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794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SHA-256 working copy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4599432"/>
            <a:ext cx="164592" cy="164592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5262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C"/>
                </a:solidFill>
              </a:defRPr>
            </a:pPr>
            <a:r>
              <a:t>Integrity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Trade-offs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What the open-source workflow can and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739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ADB / logical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Good for repeatable user-accessible collection.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Cannot normally read all app-private data on an unrooted device.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USB debugging itself changes device state and must be logged.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54864" cy="4389120"/>
          </a:xfrm>
          <a:prstGeom prst="rect">
            <a:avLst/>
          </a:prstGeom>
          <a:solidFill>
            <a:srgbClr val="39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739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Modern encryption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Android file-based encryption limits raw physical acquisition value without keys.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Physical acquisition is not automatically readable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E2541"/>
          </a:solidFill>
          <a:ln w="13970">
            <a:solidFill>
              <a:srgbClr val="1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54864" cy="4389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739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</a:defRPr>
            </a:pPr>
            <a:r>
              <a:t>iOS backup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Backup content depends on trust/pairing and device protections.</a:t>
            </a:r>
          </a:p>
          <a:p>
            <a:pPr>
              <a:spcAft>
                <a:spcPts val="700"/>
              </a:spcAft>
              <a:defRPr sz="1000">
                <a:solidFill>
                  <a:srgbClr val="A4B4C7"/>
                </a:solidFill>
              </a:defRPr>
            </a:pPr>
            <a:r>
              <a:t>Logical backup is practical, but not the same as full physical extraction.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Main learning from Week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280160" cy="1920240"/>
          </a:xfrm>
          <a:prstGeom prst="roundRect">
            <a:avLst/>
          </a:prstGeom>
          <a:noFill/>
          <a:ln w="25400">
            <a:solidFill>
              <a:srgbClr val="1BD1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1" y="3474720"/>
            <a:ext cx="219456" cy="219456"/>
          </a:xfrm>
          <a:prstGeom prst="ellipse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480000">
            <a:off x="3006547" y="1965960"/>
            <a:ext cx="87782" cy="950976"/>
          </a:xfrm>
          <a:prstGeom prst="rect">
            <a:avLst/>
          </a:prstGeom>
          <a:solidFill>
            <a:srgbClr val="28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480000">
            <a:off x="3386937" y="1965960"/>
            <a:ext cx="87782" cy="950976"/>
          </a:xfrm>
          <a:prstGeom prst="rect">
            <a:avLst/>
          </a:prstGeom>
          <a:solidFill>
            <a:srgbClr val="28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120000">
            <a:off x="2743200" y="2258568"/>
            <a:ext cx="950976" cy="87782"/>
          </a:xfrm>
          <a:prstGeom prst="rect">
            <a:avLst/>
          </a:prstGeom>
          <a:solidFill>
            <a:srgbClr val="28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1120000">
            <a:off x="2743200" y="2624328"/>
            <a:ext cx="950976" cy="87782"/>
          </a:xfrm>
          <a:prstGeom prst="rect">
            <a:avLst/>
          </a:prstGeom>
          <a:solidFill>
            <a:srgbClr val="28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40"/>
            <a:ext cx="6583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F5F8FC"/>
                </a:solidFill>
              </a:defRPr>
            </a:pPr>
            <a:r>
              <a:t>• Mobile acquisition is more than copying files - the process must be documented.</a:t>
            </a:r>
          </a:p>
          <a:p>
            <a:pPr>
              <a:spcAft>
                <a:spcPts val="900"/>
              </a:spcAft>
              <a:defRPr sz="1250">
                <a:solidFill>
                  <a:srgbClr val="F5F8FC"/>
                </a:solidFill>
              </a:defRPr>
            </a:pPr>
            <a:r>
              <a:t>• Logical acquisition is the most practical open-source method for an ordinary test device.</a:t>
            </a:r>
          </a:p>
          <a:p>
            <a:pPr>
              <a:spcAft>
                <a:spcPts val="900"/>
              </a:spcAft>
              <a:defRPr sz="1250">
                <a:solidFill>
                  <a:srgbClr val="F5F8FC"/>
                </a:solidFill>
              </a:defRPr>
            </a:pPr>
            <a:r>
              <a:t>• ADB and libimobiledevice provide repeatable Android and iOS collection workflows.</a:t>
            </a:r>
          </a:p>
          <a:p>
            <a:pPr>
              <a:spcAft>
                <a:spcPts val="900"/>
              </a:spcAft>
              <a:defRPr sz="1250">
                <a:solidFill>
                  <a:srgbClr val="F5F8FC"/>
                </a:solidFill>
              </a:defRPr>
            </a:pPr>
            <a:r>
              <a:t>• The strongest proof is matching SHA-256 hashes between the acquired evidence and the working copy.</a:t>
            </a:r>
          </a:p>
          <a:p>
            <a:pPr>
              <a:spcAft>
                <a:spcPts val="900"/>
              </a:spcAft>
              <a:defRPr sz="1250">
                <a:solidFill>
                  <a:srgbClr val="F5F8FC"/>
                </a:solidFill>
              </a:defRPr>
            </a:pPr>
            <a:r>
              <a:t>• Before submission I only need to insert my real device details, tool versions, timestamps, and hashes.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074920"/>
            <a:ext cx="4206240" cy="347472"/>
          </a:xfrm>
          <a:prstGeom prst="round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093207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Collect -&gt; Preserve -&gt; Hash -&gt; Copy -&gt;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8FC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4B4C7"/>
                </a:solidFill>
                <a:latin typeface="Aptos"/>
              </a:defRPr>
            </a:pPr>
            <a:r>
              <a:t>Official documentation used for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7280" cy="45720"/>
          </a:xfrm>
          <a:prstGeom prst="rect">
            <a:avLst/>
          </a:prstGeom>
          <a:solidFill>
            <a:srgbClr val="1B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F5F8FC"/>
                </a:solidFill>
              </a:defRPr>
            </a:pPr>
            <a:r>
              <a:t>• [1] Android Developers - Android Debug Bridge (adb), 2026</a:t>
            </a:r>
          </a:p>
          <a:p>
            <a:pPr>
              <a:spcAft>
                <a:spcPts val="900"/>
              </a:spcAft>
              <a:defRPr sz="1150">
                <a:solidFill>
                  <a:srgbClr val="F5F8FC"/>
                </a:solidFill>
              </a:defRPr>
            </a:pPr>
            <a:r>
              <a:t>• [2] Android Open Source Project - File-based encryption, 2026</a:t>
            </a:r>
          </a:p>
          <a:p>
            <a:pPr>
              <a:spcAft>
                <a:spcPts val="900"/>
              </a:spcAft>
              <a:defRPr sz="1150">
                <a:solidFill>
                  <a:srgbClr val="F5F8FC"/>
                </a:solidFill>
              </a:defRPr>
            </a:pPr>
            <a:r>
              <a:t>• [3] libimobiledevice - idevicebackup2 official manual</a:t>
            </a:r>
          </a:p>
          <a:p>
            <a:pPr>
              <a:spcAft>
                <a:spcPts val="900"/>
              </a:spcAft>
              <a:defRPr sz="1150">
                <a:solidFill>
                  <a:srgbClr val="F5F8FC"/>
                </a:solidFill>
              </a:defRPr>
            </a:pPr>
            <a:r>
              <a:t>• [4] libimobiledevice - ideviceinfo / idevicepair manuals</a:t>
            </a:r>
          </a:p>
          <a:p>
            <a:pPr>
              <a:spcAft>
                <a:spcPts val="900"/>
              </a:spcAft>
              <a:defRPr sz="1150">
                <a:solidFill>
                  <a:srgbClr val="F5F8FC"/>
                </a:solidFill>
              </a:defRPr>
            </a:pPr>
            <a:r>
              <a:t>• [5] Microsoft Learn - Get-FileHash</a:t>
            </a:r>
          </a:p>
          <a:p>
            <a:pPr>
              <a:spcAft>
                <a:spcPts val="900"/>
              </a:spcAft>
              <a:defRPr sz="1150">
                <a:solidFill>
                  <a:srgbClr val="F5F8FC"/>
                </a:solidFill>
              </a:defRPr>
            </a:pPr>
            <a:r>
              <a:t>• [6] NIST SP 800-101 Rev. 1 - Guidelines on Mobile Device Forensics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738C"/>
                </a:solidFill>
              </a:defRPr>
            </a:pPr>
            <a:r>
              <a:t>NCERT Digital Forensics Internship 2026  |  Week 7          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