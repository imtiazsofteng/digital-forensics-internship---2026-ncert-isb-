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image" Target="../media/image-2-2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1.png"/><Relationship Id="rId6" Type="http://schemas.openxmlformats.org/officeDocument/2006/relationships/image" Target="../media/image-5-3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image" Target="../media/image-7-2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47104"/>
            <a:ext cx="117317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9509760" y="-640080"/>
            <a:ext cx="3291840" cy="329184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5374E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274320"/>
            <a:ext cx="2560320" cy="256032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E536A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RESEARCH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82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A8BA"/>
                </a:solidFill>
              </a:rPr>
              <a:t>NCERT Digital Forensics Internship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078992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0C2131">
              <a:alpha val="98000"/>
            </a:srgbClr>
          </a:solidFill>
          <a:ln w="12700">
            <a:solidFill>
              <a:srgbClr val="1C44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0876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Investigating Phishing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Online Financial Fraud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32688" y="3044952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DD9E7"/>
                </a:solidFill>
              </a:rPr>
              <a:t>A Pakistan-Focused Review of Research Published Since 2020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32688" y="3685032"/>
            <a:ext cx="5303520" cy="0"/>
          </a:xfrm>
          <a:prstGeom prst="line">
            <a:avLst/>
          </a:prstGeom>
          <a:noFill/>
          <a:ln w="27940">
            <a:solidFill>
              <a:srgbClr val="22C7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88620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F3"/>
                </a:solidFill>
              </a:rPr>
              <a:t>Imtiaz Ali  •  BS Software Engineering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32688" y="4251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1A8BA"/>
                </a:solidFill>
              </a:rPr>
              <a:t>Week 6 Research Report  |  IEEE References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35240" y="1078992"/>
            <a:ext cx="3931920" cy="4526280"/>
          </a:xfrm>
          <a:prstGeom prst="roundRect">
            <a:avLst>
              <a:gd name="adj" fmla="val 1860"/>
            </a:avLst>
          </a:prstGeom>
          <a:solidFill>
            <a:srgbClr val="0B2030"/>
          </a:solidFill>
          <a:ln w="12700">
            <a:solidFill>
              <a:srgbClr val="1F4C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28432" y="1508760"/>
            <a:ext cx="658368" cy="658368"/>
          </a:xfrm>
          <a:prstGeom prst="ellipse">
            <a:avLst/>
          </a:prstGeom>
          <a:solidFill>
            <a:srgbClr val="182A35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16" name="Image 0" descr="/mnt/data/week6_icons/envelope-open-text_F4B9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6440" y="1653601"/>
            <a:ext cx="342351" cy="342351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9144000" y="2450592"/>
            <a:ext cx="658368" cy="658368"/>
          </a:xfrm>
          <a:prstGeom prst="ellipse">
            <a:avLst/>
          </a:prstGeom>
          <a:solidFill>
            <a:srgbClr val="182A35"/>
          </a:solidFill>
          <a:ln w="12700">
            <a:solidFill>
              <a:srgbClr val="E85B5B"/>
            </a:solidFill>
            <a:prstDash val="solid"/>
          </a:ln>
        </p:spPr>
      </p:sp>
      <p:pic>
        <p:nvPicPr>
          <p:cNvPr id="18" name="Image 1" descr="/mnt/data/week6_icons/link_E85B5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2008" y="2595433"/>
            <a:ext cx="342351" cy="34235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241280" y="3401568"/>
            <a:ext cx="658368" cy="658368"/>
          </a:xfrm>
          <a:prstGeom prst="ellipse">
            <a:avLst/>
          </a:prstGeom>
          <a:solidFill>
            <a:srgbClr val="182A35"/>
          </a:solidFill>
          <a:ln w="12700">
            <a:solidFill>
              <a:srgbClr val="8D72E1"/>
            </a:solidFill>
            <a:prstDash val="solid"/>
          </a:ln>
        </p:spPr>
      </p:sp>
      <p:pic>
        <p:nvPicPr>
          <p:cNvPr id="20" name="Image 2" descr="/mnt/data/week6_icons/fingerprint_8D72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9288" y="3546409"/>
            <a:ext cx="342351" cy="342351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144000" y="4370832"/>
            <a:ext cx="658368" cy="658368"/>
          </a:xfrm>
          <a:prstGeom prst="ellipse">
            <a:avLst/>
          </a:prstGeom>
          <a:solidFill>
            <a:srgbClr val="182A35"/>
          </a:solidFill>
          <a:ln w="12700">
            <a:solidFill>
              <a:srgbClr val="2FB66D"/>
            </a:solidFill>
            <a:prstDash val="solid"/>
          </a:ln>
        </p:spPr>
      </p:sp>
      <p:pic>
        <p:nvPicPr>
          <p:cNvPr id="22" name="Image 3" descr="/mnt/data/week6_icons/credit-card_2FB66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2008" y="4515673"/>
            <a:ext cx="342351" cy="342351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 rot="2100000">
            <a:off x="8659368" y="1965960"/>
            <a:ext cx="475488" cy="292608"/>
          </a:xfrm>
          <a:prstGeom prst="chevron">
            <a:avLst/>
          </a:prstGeom>
          <a:solidFill>
            <a:srgbClr val="456679"/>
          </a:solidFill>
          <a:ln w="12700">
            <a:solidFill>
              <a:srgbClr val="45667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 rot="2100000">
            <a:off x="9784080" y="2907792"/>
            <a:ext cx="475488" cy="292608"/>
          </a:xfrm>
          <a:prstGeom prst="chevron">
            <a:avLst/>
          </a:prstGeom>
          <a:solidFill>
            <a:srgbClr val="456679"/>
          </a:solidFill>
          <a:ln w="12700">
            <a:solidFill>
              <a:srgbClr val="45667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 rot="8700000">
            <a:off x="9784080" y="4023360"/>
            <a:ext cx="475488" cy="292608"/>
          </a:xfrm>
          <a:prstGeom prst="chevron">
            <a:avLst/>
          </a:prstGeom>
          <a:solidFill>
            <a:srgbClr val="456679"/>
          </a:solidFill>
          <a:ln w="12700">
            <a:solidFill>
              <a:srgbClr val="456679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909560" y="22128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1A8BA"/>
                </a:solidFill>
              </a:rPr>
              <a:t>Lure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006840" y="31638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1A8BA"/>
                </a:solidFill>
              </a:rPr>
              <a:t>Fake site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9985248" y="41330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1A8BA"/>
                </a:solidFill>
              </a:rPr>
              <a:t>Credentials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8823960" y="51023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1A8BA"/>
                </a:solidFill>
              </a:rPr>
              <a:t>Financial loss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8001000" y="54132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7C9"/>
                </a:solidFill>
              </a:rPr>
              <a:t>Research question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8046720" y="56509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9F3"/>
                </a:solidFill>
              </a:rPr>
              <a:t>How can modern detection and open-source practice reduce this chain in Pakistan?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10195560" y="6565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F8798"/>
                </a:solidFill>
              </a:rPr>
              <a:t>Imtiaz Ali  |  Week 6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47104"/>
            <a:ext cx="117317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9509760" y="-640080"/>
            <a:ext cx="3291840" cy="329184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5374E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274320"/>
            <a:ext cx="2560320" cy="256032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E536A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RESEARCH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82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A8BA"/>
                </a:solidFill>
              </a:rPr>
              <a:t>NCERT Digital Forensics Internship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review was carried out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66928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1A8BA"/>
                </a:solidFill>
              </a:rPr>
              <a:t>A simple student research workflow, focused on 2020 onward work.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2057400"/>
            <a:ext cx="2029968" cy="2148840"/>
          </a:xfrm>
          <a:prstGeom prst="roundRect">
            <a:avLst>
              <a:gd name="adj" fmla="val 3604"/>
            </a:avLst>
          </a:prstGeom>
          <a:solidFill>
            <a:srgbClr val="0E2637"/>
          </a:solidFill>
          <a:ln w="12700">
            <a:solidFill>
              <a:srgbClr val="22C7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2456" y="2286000"/>
            <a:ext cx="612648" cy="612648"/>
          </a:xfrm>
          <a:prstGeom prst="ellipse">
            <a:avLst/>
          </a:prstGeom>
          <a:solidFill>
            <a:srgbClr val="0B2130"/>
          </a:solidFill>
          <a:ln w="12700">
            <a:solidFill>
              <a:srgbClr val="22C7C9"/>
            </a:solidFill>
            <a:prstDash val="solid"/>
          </a:ln>
        </p:spPr>
      </p:sp>
      <p:pic>
        <p:nvPicPr>
          <p:cNvPr id="12" name="Image 0" descr="/mnt/data/week6_icons/magnifying-glass_22C7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9492" y="2420783"/>
            <a:ext cx="318577" cy="31857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41248" y="30632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Search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41248" y="345643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A"/>
                </a:solidFill>
              </a:rPr>
              <a:t>Google Scholar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1A8BA"/>
                </a:solidFill>
              </a:rPr>
              <a:t>Since 2020</a:t>
            </a:r>
            <a:endParaRPr lang="en-US" sz="1050" dirty="0"/>
          </a:p>
        </p:txBody>
      </p:sp>
      <p:pic>
        <p:nvPicPr>
          <p:cNvPr id="15" name="Image 1" descr="/mnt/data/week6_icons/arrow-right_52798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056" y="2880360"/>
            <a:ext cx="274320" cy="2743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916936" y="2057400"/>
            <a:ext cx="2029968" cy="2148840"/>
          </a:xfrm>
          <a:prstGeom prst="roundRect">
            <a:avLst>
              <a:gd name="adj" fmla="val 3604"/>
            </a:avLst>
          </a:prstGeom>
          <a:solidFill>
            <a:srgbClr val="10293B"/>
          </a:solidFill>
          <a:ln w="12700">
            <a:solidFill>
              <a:srgbClr val="21465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21024" y="2286000"/>
            <a:ext cx="612648" cy="612648"/>
          </a:xfrm>
          <a:prstGeom prst="ellipse">
            <a:avLst/>
          </a:prstGeom>
          <a:solidFill>
            <a:srgbClr val="0B2130"/>
          </a:solidFill>
          <a:ln w="12700">
            <a:solidFill>
              <a:srgbClr val="4389F5"/>
            </a:solidFill>
            <a:prstDash val="solid"/>
          </a:ln>
        </p:spPr>
      </p:sp>
      <p:pic>
        <p:nvPicPr>
          <p:cNvPr id="18" name="Image 2" descr="/mnt/data/week6_icons/book-open_4389F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060" y="2420783"/>
            <a:ext cx="318577" cy="31857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099816" y="30632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Open access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3099816" y="345643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A"/>
                </a:solidFill>
              </a:rPr>
              <a:t>arXiv / DOAJ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1A8BA"/>
                </a:solidFill>
              </a:rPr>
              <a:t>publisher repositories</a:t>
            </a:r>
            <a:endParaRPr lang="en-US" sz="1050" dirty="0"/>
          </a:p>
        </p:txBody>
      </p:sp>
      <p:pic>
        <p:nvPicPr>
          <p:cNvPr id="21" name="Image 3" descr="/mnt/data/week6_icons/arrow-right_52798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2880360"/>
            <a:ext cx="274320" cy="2743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175504" y="2057400"/>
            <a:ext cx="2029968" cy="2148840"/>
          </a:xfrm>
          <a:prstGeom prst="roundRect">
            <a:avLst>
              <a:gd name="adj" fmla="val 3604"/>
            </a:avLst>
          </a:prstGeom>
          <a:solidFill>
            <a:srgbClr val="0E2637"/>
          </a:solidFill>
          <a:ln w="12700">
            <a:solidFill>
              <a:srgbClr val="21465E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879592" y="2286000"/>
            <a:ext cx="612648" cy="612648"/>
          </a:xfrm>
          <a:prstGeom prst="ellipse">
            <a:avLst/>
          </a:prstGeom>
          <a:solidFill>
            <a:srgbClr val="0B2130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24" name="Image 4" descr="/mnt/data/week6_icons/sitemap_F4B94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6628" y="2420783"/>
            <a:ext cx="318577" cy="31857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58384" y="30632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Screen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5358384" y="345643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A"/>
                </a:solidFill>
              </a:rPr>
              <a:t>Phishing + online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1A8BA"/>
                </a:solidFill>
              </a:rPr>
              <a:t>financial fraud + Pakistan</a:t>
            </a:r>
            <a:endParaRPr lang="en-US" sz="1050" dirty="0"/>
          </a:p>
        </p:txBody>
      </p:sp>
      <p:pic>
        <p:nvPicPr>
          <p:cNvPr id="27" name="Image 5" descr="/mnt/data/week6_icons/arrow-right_52798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192" y="2880360"/>
            <a:ext cx="274320" cy="27432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434072" y="2057400"/>
            <a:ext cx="2029968" cy="2148840"/>
          </a:xfrm>
          <a:prstGeom prst="roundRect">
            <a:avLst>
              <a:gd name="adj" fmla="val 3604"/>
            </a:avLst>
          </a:prstGeom>
          <a:solidFill>
            <a:srgbClr val="10293B"/>
          </a:solidFill>
          <a:ln w="12700">
            <a:solidFill>
              <a:srgbClr val="21465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8138160" y="2286000"/>
            <a:ext cx="612648" cy="612648"/>
          </a:xfrm>
          <a:prstGeom prst="ellipse">
            <a:avLst/>
          </a:prstGeom>
          <a:solidFill>
            <a:srgbClr val="0B2130"/>
          </a:solidFill>
          <a:ln w="12700">
            <a:solidFill>
              <a:srgbClr val="8D72E1"/>
            </a:solidFill>
            <a:prstDash val="solid"/>
          </a:ln>
        </p:spPr>
      </p:sp>
      <p:pic>
        <p:nvPicPr>
          <p:cNvPr id="30" name="Image 6" descr="/mnt/data/week6_icons/database_8D72E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5196" y="2420783"/>
            <a:ext cx="318577" cy="31857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616952" y="30632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Organize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7616952" y="345643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A"/>
                </a:solidFill>
              </a:rPr>
              <a:t>Zotero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1A8BA"/>
                </a:solidFill>
              </a:rPr>
              <a:t>IEEE references</a:t>
            </a:r>
            <a:endParaRPr lang="en-US" sz="1050" dirty="0"/>
          </a:p>
        </p:txBody>
      </p:sp>
      <p:pic>
        <p:nvPicPr>
          <p:cNvPr id="33" name="Image 7" descr="/mnt/data/week6_icons/arrow-right_52798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9760" y="2880360"/>
            <a:ext cx="274320" cy="27432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9692640" y="2057400"/>
            <a:ext cx="2029968" cy="2148840"/>
          </a:xfrm>
          <a:prstGeom prst="roundRect">
            <a:avLst>
              <a:gd name="adj" fmla="val 3604"/>
            </a:avLst>
          </a:prstGeom>
          <a:solidFill>
            <a:srgbClr val="0E2637"/>
          </a:solidFill>
          <a:ln w="12700">
            <a:solidFill>
              <a:srgbClr val="21465E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10396728" y="2286000"/>
            <a:ext cx="612648" cy="612648"/>
          </a:xfrm>
          <a:prstGeom prst="ellipse">
            <a:avLst/>
          </a:prstGeom>
          <a:solidFill>
            <a:srgbClr val="0B2130"/>
          </a:solidFill>
          <a:ln w="12700">
            <a:solidFill>
              <a:srgbClr val="2FB66D"/>
            </a:solidFill>
            <a:prstDash val="solid"/>
          </a:ln>
        </p:spPr>
      </p:sp>
      <p:pic>
        <p:nvPicPr>
          <p:cNvPr id="36" name="Image 8" descr="/mnt/data/week6_icons/file-shield_2FB66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3764" y="2420783"/>
            <a:ext cx="318577" cy="318577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9875520" y="30632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Write</a:t>
            </a:r>
            <a:endParaRPr lang="en-US" sz="1500" dirty="0"/>
          </a:p>
        </p:txBody>
      </p:sp>
      <p:sp>
        <p:nvSpPr>
          <p:cNvPr id="38" name="Text 27"/>
          <p:cNvSpPr/>
          <p:nvPr/>
        </p:nvSpPr>
        <p:spPr>
          <a:xfrm>
            <a:off x="9875520" y="3456432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1A8BA"/>
                </a:solidFill>
              </a:rPr>
              <a:t>1,200-2,000 word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1A8BA"/>
                </a:solidFill>
              </a:rPr>
              <a:t>review + presentation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777240" y="4681728"/>
            <a:ext cx="10561320" cy="1115568"/>
          </a:xfrm>
          <a:prstGeom prst="roundRect">
            <a:avLst>
              <a:gd name="adj" fmla="val 6557"/>
            </a:avLst>
          </a:prstGeom>
          <a:solidFill>
            <a:srgbClr val="0A2131"/>
          </a:solidFill>
          <a:ln w="12700">
            <a:solidFill>
              <a:srgbClr val="1E4A60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1005840" y="493776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7C9"/>
                </a:solidFill>
              </a:rPr>
              <a:t>Inclusion rule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2240280" y="484632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9F3"/>
                </a:solidFill>
              </a:rPr>
              <a:t>Every academic paper used in the report is dated 2020 or later. The final set mixes systematic reviews, modern phishing detection studies, financial-fraud detection work, and Pakistan-specific evidence.</a:t>
            </a:r>
            <a:endParaRPr lang="en-US" sz="1200" dirty="0"/>
          </a:p>
        </p:txBody>
      </p:sp>
      <p:sp>
        <p:nvSpPr>
          <p:cNvPr id="42" name="Text 31"/>
          <p:cNvSpPr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F8798"/>
                </a:solidFill>
              </a:rPr>
              <a:t>Sources used: Google Scholar, arXiv, open-access publisher pages; reference management with Zotero.</a:t>
            </a:r>
            <a:endParaRPr lang="en-US" sz="710" dirty="0"/>
          </a:p>
        </p:txBody>
      </p:sp>
      <p:sp>
        <p:nvSpPr>
          <p:cNvPr id="43" name="Text 32"/>
          <p:cNvSpPr/>
          <p:nvPr/>
        </p:nvSpPr>
        <p:spPr>
          <a:xfrm>
            <a:off x="10195560" y="6565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F8798"/>
                </a:solidFill>
              </a:rPr>
              <a:t>Imtiaz Ali  |  Week 6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47104"/>
            <a:ext cx="117317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9509760" y="-640080"/>
            <a:ext cx="3291840" cy="329184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5374E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274320"/>
            <a:ext cx="2560320" cy="256032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E536A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RESEARCH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82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A8BA"/>
                </a:solidFill>
              </a:rPr>
              <a:t>NCERT Digital Forensics Internship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current threat picture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66928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1A8BA"/>
                </a:solidFill>
              </a:rPr>
              <a:t>Phishing is no longer just a fake email; it is a full social-engineering and payment-fraud chain.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2578608" cy="2788920"/>
          </a:xfrm>
          <a:prstGeom prst="roundRect">
            <a:avLst>
              <a:gd name="adj" fmla="val 2837"/>
            </a:avLst>
          </a:prstGeom>
          <a:solidFill>
            <a:srgbClr val="0D2738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2249424"/>
            <a:ext cx="731520" cy="731520"/>
          </a:xfrm>
          <a:prstGeom prst="ellipse">
            <a:avLst/>
          </a:prstGeom>
          <a:solidFill>
            <a:srgbClr val="0B2130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12" name="Image 0" descr="/mnt/data/week6_icons/envelope-open-text_F4B9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909" y="2410358"/>
            <a:ext cx="380390" cy="38039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318211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</a:rPr>
              <a:t>1. Lure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51560" y="369417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1A8BA"/>
                </a:solidFill>
              </a:rPr>
              <a:t>Email, SMS, social media or fake support call</a:t>
            </a:r>
            <a:endParaRPr lang="en-US" sz="1100" dirty="0"/>
          </a:p>
        </p:txBody>
      </p:sp>
      <p:pic>
        <p:nvPicPr>
          <p:cNvPr id="15" name="Image 1" descr="/mnt/data/week6_icons/arrow-right_486A7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2971800"/>
            <a:ext cx="292608" cy="2926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529584" y="1965960"/>
            <a:ext cx="2578608" cy="2788920"/>
          </a:xfrm>
          <a:prstGeom prst="roundRect">
            <a:avLst>
              <a:gd name="adj" fmla="val 2837"/>
            </a:avLst>
          </a:prstGeom>
          <a:solidFill>
            <a:srgbClr val="0D2738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07408" y="2249424"/>
            <a:ext cx="731520" cy="731520"/>
          </a:xfrm>
          <a:prstGeom prst="ellipse">
            <a:avLst/>
          </a:prstGeom>
          <a:solidFill>
            <a:srgbClr val="0B2130"/>
          </a:solidFill>
          <a:ln w="12700">
            <a:solidFill>
              <a:srgbClr val="E85B5B"/>
            </a:solidFill>
            <a:prstDash val="solid"/>
          </a:ln>
        </p:spPr>
      </p:sp>
      <p:pic>
        <p:nvPicPr>
          <p:cNvPr id="18" name="Image 2" descr="/mnt/data/week6_icons/link_E85B5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973" y="2410358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03904" y="318211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</a:rPr>
              <a:t>2. Impersonation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849624" y="369417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1A8BA"/>
                </a:solidFill>
              </a:rPr>
              <a:t>Look-alike domain, copied brand, fake login page</a:t>
            </a:r>
            <a:endParaRPr lang="en-US" sz="1100" dirty="0"/>
          </a:p>
        </p:txBody>
      </p:sp>
      <p:pic>
        <p:nvPicPr>
          <p:cNvPr id="21" name="Image 3" descr="/mnt/data/week6_icons/arrow-right_486A7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971800"/>
            <a:ext cx="292608" cy="2926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327648" y="1965960"/>
            <a:ext cx="2578608" cy="2788920"/>
          </a:xfrm>
          <a:prstGeom prst="roundRect">
            <a:avLst>
              <a:gd name="adj" fmla="val 2837"/>
            </a:avLst>
          </a:prstGeom>
          <a:solidFill>
            <a:srgbClr val="0D2738"/>
          </a:solidFill>
          <a:ln w="12700">
            <a:solidFill>
              <a:srgbClr val="8D72E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205472" y="2249424"/>
            <a:ext cx="731520" cy="731520"/>
          </a:xfrm>
          <a:prstGeom prst="ellipse">
            <a:avLst/>
          </a:prstGeom>
          <a:solidFill>
            <a:srgbClr val="0B2130"/>
          </a:solidFill>
          <a:ln w="12700">
            <a:solidFill>
              <a:srgbClr val="8D72E1"/>
            </a:solidFill>
            <a:prstDash val="solid"/>
          </a:ln>
        </p:spPr>
      </p:sp>
      <p:pic>
        <p:nvPicPr>
          <p:cNvPr id="24" name="Image 4" descr="/mnt/data/week6_icons/lock_8D72E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1037" y="2410358"/>
            <a:ext cx="380390" cy="38039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601968" y="318211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</a:rPr>
              <a:t>3. Credential theft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6647688" y="369417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1A8BA"/>
                </a:solidFill>
              </a:rPr>
              <a:t>Password, card details, OTP or session information</a:t>
            </a:r>
            <a:endParaRPr lang="en-US" sz="1100" dirty="0"/>
          </a:p>
        </p:txBody>
      </p:sp>
      <p:pic>
        <p:nvPicPr>
          <p:cNvPr id="27" name="Image 5" descr="/mnt/data/week6_icons/arrow-right_486A7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1976" y="2971800"/>
            <a:ext cx="292608" cy="29260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125712" y="1965960"/>
            <a:ext cx="2578608" cy="2788920"/>
          </a:xfrm>
          <a:prstGeom prst="roundRect">
            <a:avLst>
              <a:gd name="adj" fmla="val 2837"/>
            </a:avLst>
          </a:prstGeom>
          <a:solidFill>
            <a:srgbClr val="0D2738"/>
          </a:solidFill>
          <a:ln w="12700">
            <a:solidFill>
              <a:srgbClr val="2FB66D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10003536" y="2249424"/>
            <a:ext cx="731520" cy="731520"/>
          </a:xfrm>
          <a:prstGeom prst="ellipse">
            <a:avLst/>
          </a:prstGeom>
          <a:solidFill>
            <a:srgbClr val="0B2130"/>
          </a:solidFill>
          <a:ln w="12700">
            <a:solidFill>
              <a:srgbClr val="2FB66D"/>
            </a:solidFill>
            <a:prstDash val="solid"/>
          </a:ln>
        </p:spPr>
      </p:sp>
      <p:pic>
        <p:nvPicPr>
          <p:cNvPr id="30" name="Image 6" descr="/mnt/data/week6_icons/credit-card_2FB66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9101" y="2410358"/>
            <a:ext cx="380390" cy="38039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400032" y="318211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</a:rPr>
              <a:t>4. Fraud action</a:t>
            </a:r>
            <a:endParaRPr lang="en-US" sz="1600" dirty="0"/>
          </a:p>
        </p:txBody>
      </p:sp>
      <p:sp>
        <p:nvSpPr>
          <p:cNvPr id="32" name="Text 23"/>
          <p:cNvSpPr/>
          <p:nvPr/>
        </p:nvSpPr>
        <p:spPr>
          <a:xfrm>
            <a:off x="9445752" y="3694176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1A8BA"/>
                </a:solidFill>
              </a:rPr>
              <a:t>Account takeover, transfer or online payment loss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777240" y="51663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7C9"/>
                </a:solidFill>
              </a:rPr>
              <a:t>Why it is difficult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2057400" y="5074920"/>
            <a:ext cx="9326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DCE9F3"/>
                </a:solidFill>
              </a:rPr>
              <a:t>Attackers can change domains, logos, wording and delivery channels very quickly. A detector that only checks one signal can miss the next variation.</a:t>
            </a:r>
            <a:endParaRPr lang="en-US" sz="1230" dirty="0"/>
          </a:p>
        </p:txBody>
      </p:sp>
      <p:sp>
        <p:nvSpPr>
          <p:cNvPr id="35" name="Text 26"/>
          <p:cNvSpPr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F8798"/>
                </a:solidFill>
              </a:rPr>
              <a:t>Bitaab et al. (2021); Arshad et al. (2021).</a:t>
            </a:r>
            <a:endParaRPr lang="en-US" sz="710" dirty="0"/>
          </a:p>
        </p:txBody>
      </p:sp>
      <p:sp>
        <p:nvSpPr>
          <p:cNvPr id="36" name="Text 27"/>
          <p:cNvSpPr/>
          <p:nvPr/>
        </p:nvSpPr>
        <p:spPr>
          <a:xfrm>
            <a:off x="10195560" y="6565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F8798"/>
                </a:solidFill>
              </a:rPr>
              <a:t>Imtiaz Ali  |  Week 6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47104"/>
            <a:ext cx="117317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9509760" y="-640080"/>
            <a:ext cx="3291840" cy="329184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5374E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274320"/>
            <a:ext cx="2560320" cy="256032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E536A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RESEARCH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82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A8BA"/>
                </a:solidFill>
              </a:rPr>
              <a:t>NCERT Digital Forensics Internship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of the art since 2020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66928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1A8BA"/>
                </a:solidFill>
              </a:rPr>
              <a:t>The research direction is moving from single-signal detection toward combined visual, behavioral and risk-aware models.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2971800"/>
            <a:ext cx="10058400" cy="0"/>
          </a:xfrm>
          <a:prstGeom prst="line">
            <a:avLst/>
          </a:prstGeom>
          <a:noFill/>
          <a:ln w="38100">
            <a:solidFill>
              <a:srgbClr val="3765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2816352"/>
            <a:ext cx="310896" cy="310896"/>
          </a:xfrm>
          <a:prstGeom prst="ellipse">
            <a:avLst/>
          </a:prstGeom>
          <a:solidFill>
            <a:srgbClr val="22C7C9"/>
          </a:solidFill>
          <a:ln w="25400">
            <a:solidFill>
              <a:srgbClr val="08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6002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102C40"/>
          </a:solidFill>
          <a:ln w="12700">
            <a:solidFill>
              <a:srgbClr val="22C7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17373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7C9"/>
                </a:solidFill>
              </a:rPr>
              <a:t>2021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" y="19933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Phishpedia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" y="23042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91A8BA"/>
                </a:solidFill>
              </a:rPr>
              <a:t>Visual brand matching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0C2232"/>
          </a:solidFill>
          <a:ln w="12700">
            <a:solidFill>
              <a:srgbClr val="244C62"/>
            </a:solidFill>
            <a:prstDash val="solid"/>
          </a:ln>
        </p:spPr>
      </p:sp>
      <p:pic>
        <p:nvPicPr>
          <p:cNvPr id="17" name="Image 0" descr="/mnt/data/week6_icons/magnifying-glass_22C7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3639312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69848" y="357530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CE9F3"/>
                </a:solidFill>
              </a:rPr>
              <a:t>1704 sites found in a 30-day deployment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3703320" y="2816352"/>
            <a:ext cx="310896" cy="310896"/>
          </a:xfrm>
          <a:prstGeom prst="ellipse">
            <a:avLst/>
          </a:prstGeom>
          <a:solidFill>
            <a:srgbClr val="8D72E1"/>
          </a:solidFill>
          <a:ln w="25400">
            <a:solidFill>
              <a:srgbClr val="0818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108960" y="16002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102C40"/>
          </a:solidFill>
          <a:ln w="12700">
            <a:solidFill>
              <a:srgbClr val="8D72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82696" y="17373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D72E1"/>
                </a:solidFill>
              </a:rPr>
              <a:t>2022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282696" y="19933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PhishIntention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282696" y="23042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91A8BA"/>
                </a:solidFill>
              </a:rPr>
              <a:t>Brand + credential-taking intent</a:t>
            </a:r>
            <a:endParaRPr lang="en-US" sz="970" dirty="0"/>
          </a:p>
        </p:txBody>
      </p:sp>
      <p:sp>
        <p:nvSpPr>
          <p:cNvPr id="24" name="Shape 21"/>
          <p:cNvSpPr/>
          <p:nvPr/>
        </p:nvSpPr>
        <p:spPr>
          <a:xfrm>
            <a:off x="3108960" y="34290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0C2232"/>
          </a:solidFill>
          <a:ln w="12700">
            <a:solidFill>
              <a:srgbClr val="244C62"/>
            </a:solidFill>
            <a:prstDash val="solid"/>
          </a:ln>
        </p:spPr>
      </p:sp>
      <p:pic>
        <p:nvPicPr>
          <p:cNvPr id="25" name="Image 1" descr="/mnt/data/week6_icons/brain_8D72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3639312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630168" y="357530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CE9F3"/>
                </a:solidFill>
              </a:rPr>
              <a:t>86.5% fewer false alerts than best baseline</a:t>
            </a:r>
            <a:endParaRPr lang="en-US" sz="960" dirty="0"/>
          </a:p>
        </p:txBody>
      </p:sp>
      <p:sp>
        <p:nvSpPr>
          <p:cNvPr id="27" name="Shape 23"/>
          <p:cNvSpPr/>
          <p:nvPr/>
        </p:nvSpPr>
        <p:spPr>
          <a:xfrm>
            <a:off x="6400800" y="2816352"/>
            <a:ext cx="310896" cy="310896"/>
          </a:xfrm>
          <a:prstGeom prst="ellipse">
            <a:avLst/>
          </a:prstGeom>
          <a:solidFill>
            <a:srgbClr val="2FB66D"/>
          </a:solidFill>
          <a:ln w="25400">
            <a:solidFill>
              <a:srgbClr val="08182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806440" y="16002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102C40"/>
          </a:solidFill>
          <a:ln w="12700">
            <a:solidFill>
              <a:srgbClr val="2FB66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980176" y="17373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66D"/>
                </a:solidFill>
              </a:rPr>
              <a:t>2023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980176" y="19933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Payment fraud risk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5980176" y="23042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91A8BA"/>
                </a:solidFill>
              </a:rPr>
              <a:t>Anomaly detection + risk optimization</a:t>
            </a:r>
            <a:endParaRPr lang="en-US" sz="970" dirty="0"/>
          </a:p>
        </p:txBody>
      </p:sp>
      <p:sp>
        <p:nvSpPr>
          <p:cNvPr id="32" name="Shape 28"/>
          <p:cNvSpPr/>
          <p:nvPr/>
        </p:nvSpPr>
        <p:spPr>
          <a:xfrm>
            <a:off x="5806440" y="34290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0C2232"/>
          </a:solidFill>
          <a:ln w="12700">
            <a:solidFill>
              <a:srgbClr val="244C62"/>
            </a:solidFill>
            <a:prstDash val="solid"/>
          </a:ln>
        </p:spPr>
      </p:sp>
      <p:pic>
        <p:nvPicPr>
          <p:cNvPr id="33" name="Image 2" descr="/mnt/data/week6_icons/chart-line_2FB66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3639312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327648" y="357530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CE9F3"/>
                </a:solidFill>
              </a:rPr>
              <a:t>Detection linked to financial-loss decisions</a:t>
            </a:r>
            <a:endParaRPr lang="en-US" sz="960" dirty="0"/>
          </a:p>
        </p:txBody>
      </p:sp>
      <p:sp>
        <p:nvSpPr>
          <p:cNvPr id="35" name="Shape 30"/>
          <p:cNvSpPr/>
          <p:nvPr/>
        </p:nvSpPr>
        <p:spPr>
          <a:xfrm>
            <a:off x="9098280" y="2816352"/>
            <a:ext cx="310896" cy="310896"/>
          </a:xfrm>
          <a:prstGeom prst="ellipse">
            <a:avLst/>
          </a:prstGeom>
          <a:solidFill>
            <a:srgbClr val="F4B942"/>
          </a:solidFill>
          <a:ln w="25400">
            <a:solidFill>
              <a:srgbClr val="081827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503920" y="16002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102C40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677656" y="17373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</a:rPr>
              <a:t>2024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8677656" y="19933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</a:rPr>
              <a:t>Multimodal LLMs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8677656" y="23042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91A8BA"/>
                </a:solidFill>
              </a:rPr>
              <a:t>Screenshot + text + page context</a:t>
            </a:r>
            <a:endParaRPr lang="en-US" sz="970" dirty="0"/>
          </a:p>
        </p:txBody>
      </p:sp>
      <p:sp>
        <p:nvSpPr>
          <p:cNvPr id="40" name="Shape 35"/>
          <p:cNvSpPr/>
          <p:nvPr/>
        </p:nvSpPr>
        <p:spPr>
          <a:xfrm>
            <a:off x="8503920" y="34290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0C2232"/>
          </a:solidFill>
          <a:ln w="12700">
            <a:solidFill>
              <a:srgbClr val="244C62"/>
            </a:solidFill>
            <a:prstDash val="solid"/>
          </a:ln>
        </p:spPr>
      </p:sp>
      <p:pic>
        <p:nvPicPr>
          <p:cNvPr id="41" name="Image 3" descr="/mnt/data/week6_icons/circle-nodes_F4B94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56" y="3639312"/>
            <a:ext cx="256032" cy="256032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9025128" y="3575304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CE9F3"/>
                </a:solidFill>
              </a:rPr>
              <a:t>Promising generalization, but costly and still evolving</a:t>
            </a:r>
            <a:endParaRPr lang="en-US" sz="960" dirty="0"/>
          </a:p>
        </p:txBody>
      </p:sp>
      <p:sp>
        <p:nvSpPr>
          <p:cNvPr id="43" name="Shape 37"/>
          <p:cNvSpPr/>
          <p:nvPr/>
        </p:nvSpPr>
        <p:spPr>
          <a:xfrm>
            <a:off x="868680" y="4892040"/>
            <a:ext cx="10561320" cy="859536"/>
          </a:xfrm>
          <a:prstGeom prst="roundRect">
            <a:avLst>
              <a:gd name="adj" fmla="val 8511"/>
            </a:avLst>
          </a:prstGeom>
          <a:solidFill>
            <a:srgbClr val="0D2A3B"/>
          </a:solidFill>
          <a:ln w="12700">
            <a:solidFill>
              <a:srgbClr val="275267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1097280" y="51389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7C9"/>
                </a:solidFill>
              </a:rPr>
              <a:t>Main lesson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2240280" y="504748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DCE9F3"/>
                </a:solidFill>
              </a:rPr>
              <a:t>Strong systems combine more than one source of evidence: content, visual similarity, webpage behavior, network context and transaction risk.</a:t>
            </a:r>
            <a:endParaRPr lang="en-US" sz="1220" dirty="0"/>
          </a:p>
        </p:txBody>
      </p:sp>
      <p:sp>
        <p:nvSpPr>
          <p:cNvPr id="46" name="Text 40"/>
          <p:cNvSpPr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F8798"/>
                </a:solidFill>
              </a:rPr>
              <a:t>[3] Lin et al., USENIX Security 2021; [8] Liu et al., USENIX Security 2022; [9] Vanini et al., 2023; [10] Lee et al., arXiv 2024.</a:t>
            </a:r>
            <a:endParaRPr lang="en-US" sz="710" dirty="0"/>
          </a:p>
        </p:txBody>
      </p:sp>
      <p:sp>
        <p:nvSpPr>
          <p:cNvPr id="47" name="Text 41"/>
          <p:cNvSpPr/>
          <p:nvPr/>
        </p:nvSpPr>
        <p:spPr>
          <a:xfrm>
            <a:off x="10195560" y="6565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F8798"/>
                </a:solidFill>
              </a:rPr>
              <a:t>Imtiaz Ali  |  Week 6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47104"/>
            <a:ext cx="117317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9509760" y="-640080"/>
            <a:ext cx="3291840" cy="329184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5374E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274320"/>
            <a:ext cx="2560320" cy="256032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E536A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RESEARCH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82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A8BA"/>
                </a:solidFill>
              </a:rPr>
              <a:t>NCERT Digital Forensics Internship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Pakistan-focused view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66928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1A8BA"/>
                </a:solidFill>
              </a:rPr>
              <a:t>The technical problem is closely linked with trust, user behavior and banking controls.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3337560" cy="987552"/>
          </a:xfrm>
          <a:prstGeom prst="roundRect">
            <a:avLst>
              <a:gd name="adj" fmla="val 7407"/>
            </a:avLst>
          </a:prstGeom>
          <a:solidFill>
            <a:srgbClr val="14364E"/>
          </a:solidFill>
          <a:ln w="12700">
            <a:solidFill>
              <a:srgbClr val="22C7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" y="1993392"/>
            <a:ext cx="420624" cy="420624"/>
          </a:xfrm>
          <a:prstGeom prst="ellipse">
            <a:avLst/>
          </a:prstGeom>
          <a:solidFill>
            <a:srgbClr val="0C2B3A"/>
          </a:solidFill>
          <a:ln w="12700">
            <a:solidFill>
              <a:srgbClr val="22C7C9"/>
            </a:solidFill>
            <a:prstDash val="solid"/>
          </a:ln>
        </p:spPr>
      </p:sp>
      <p:pic>
        <p:nvPicPr>
          <p:cNvPr id="12" name="Image 0" descr="/mnt/data/week6_icons/people-group_22C7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054" y="2085929"/>
            <a:ext cx="218724" cy="2187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196596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60" kern="0" dirty="0">
                <a:solidFill>
                  <a:srgbClr val="91A8BA"/>
                </a:solidFill>
              </a:rPr>
              <a:t>PAKISTAN BANKING STUDY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1371600" y="216712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</a:rPr>
              <a:t>384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71600" y="2505456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FC0CD"/>
                </a:solidFill>
              </a:rPr>
              <a:t>banking customers surveyed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4416552" y="1828800"/>
            <a:ext cx="3337560" cy="987552"/>
          </a:xfrm>
          <a:prstGeom prst="roundRect">
            <a:avLst>
              <a:gd name="adj" fmla="val 7407"/>
            </a:avLst>
          </a:prstGeom>
          <a:solidFill>
            <a:srgbClr val="14364E"/>
          </a:solidFill>
          <a:ln w="12700">
            <a:solidFill>
              <a:srgbClr val="4389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62856" y="1993392"/>
            <a:ext cx="420624" cy="420624"/>
          </a:xfrm>
          <a:prstGeom prst="ellipse">
            <a:avLst/>
          </a:prstGeom>
          <a:solidFill>
            <a:srgbClr val="0C2B3A"/>
          </a:solidFill>
          <a:ln w="12700">
            <a:solidFill>
              <a:srgbClr val="4389F5"/>
            </a:solidFill>
            <a:prstDash val="solid"/>
          </a:ln>
        </p:spPr>
      </p:sp>
      <p:pic>
        <p:nvPicPr>
          <p:cNvPr id="18" name="Image 1" descr="/mnt/data/week6_icons/building-columns_4389F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806" y="2085929"/>
            <a:ext cx="218724" cy="2187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02352" y="196596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60" kern="0" dirty="0">
                <a:solidFill>
                  <a:srgbClr val="91A8BA"/>
                </a:solidFill>
              </a:rPr>
              <a:t>SBP RESPONSE</a:t>
            </a:r>
            <a:endParaRPr lang="en-US" sz="830" dirty="0"/>
          </a:p>
        </p:txBody>
      </p:sp>
      <p:sp>
        <p:nvSpPr>
          <p:cNvPr id="20" name="Text 16"/>
          <p:cNvSpPr/>
          <p:nvPr/>
        </p:nvSpPr>
        <p:spPr>
          <a:xfrm>
            <a:off x="5102352" y="216712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</a:rPr>
              <a:t>2021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5102352" y="2505456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FC0CD"/>
                </a:solidFill>
              </a:rPr>
              <a:t>digital banking fraud reporting measures</a:t>
            </a:r>
            <a:endParaRPr lang="en-US" sz="820" dirty="0"/>
          </a:p>
        </p:txBody>
      </p:sp>
      <p:sp>
        <p:nvSpPr>
          <p:cNvPr id="22" name="Shape 18"/>
          <p:cNvSpPr/>
          <p:nvPr/>
        </p:nvSpPr>
        <p:spPr>
          <a:xfrm>
            <a:off x="8138160" y="1828800"/>
            <a:ext cx="3337560" cy="987552"/>
          </a:xfrm>
          <a:prstGeom prst="roundRect">
            <a:avLst>
              <a:gd name="adj" fmla="val 7407"/>
            </a:avLst>
          </a:prstGeom>
          <a:solidFill>
            <a:srgbClr val="14364E"/>
          </a:solidFill>
          <a:ln w="12700">
            <a:solidFill>
              <a:srgbClr val="2FB66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284464" y="1993392"/>
            <a:ext cx="420624" cy="420624"/>
          </a:xfrm>
          <a:prstGeom prst="ellipse">
            <a:avLst/>
          </a:prstGeom>
          <a:solidFill>
            <a:srgbClr val="0C2B3A"/>
          </a:solidFill>
          <a:ln w="12700">
            <a:solidFill>
              <a:srgbClr val="2FB66D"/>
            </a:solidFill>
            <a:prstDash val="solid"/>
          </a:ln>
        </p:spPr>
      </p:sp>
      <p:pic>
        <p:nvPicPr>
          <p:cNvPr id="24" name="Image 2" descr="/mnt/data/week6_icons/shield-halved_2FB66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414" y="2085929"/>
            <a:ext cx="218724" cy="21872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823960" y="196596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60" kern="0" dirty="0">
                <a:solidFill>
                  <a:srgbClr val="91A8BA"/>
                </a:solidFill>
              </a:rPr>
              <a:t>SECURITY CONTROLS</a:t>
            </a:r>
            <a:endParaRPr lang="en-US" sz="830" dirty="0"/>
          </a:p>
        </p:txBody>
      </p:sp>
      <p:sp>
        <p:nvSpPr>
          <p:cNvPr id="26" name="Text 21"/>
          <p:cNvSpPr/>
          <p:nvPr/>
        </p:nvSpPr>
        <p:spPr>
          <a:xfrm>
            <a:off x="8823960" y="216712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</a:rPr>
              <a:t>2023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8823960" y="2505456"/>
            <a:ext cx="2496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AFC0CD"/>
                </a:solidFill>
              </a:rPr>
              <a:t>enhanced controls for digital banking</a:t>
            </a:r>
            <a:endParaRPr lang="en-US" sz="820" dirty="0"/>
          </a:p>
        </p:txBody>
      </p:sp>
      <p:sp>
        <p:nvSpPr>
          <p:cNvPr id="28" name="Shape 23"/>
          <p:cNvSpPr/>
          <p:nvPr/>
        </p:nvSpPr>
        <p:spPr>
          <a:xfrm>
            <a:off x="685800" y="3246120"/>
            <a:ext cx="5230368" cy="2011680"/>
          </a:xfrm>
          <a:prstGeom prst="roundRect">
            <a:avLst>
              <a:gd name="adj" fmla="val 3636"/>
            </a:avLst>
          </a:prstGeom>
          <a:solidFill>
            <a:srgbClr val="0D2738"/>
          </a:solidFill>
          <a:ln w="12700">
            <a:solidFill>
              <a:srgbClr val="21465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960120" y="3547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What the Pakistan study suggests</a:t>
            </a:r>
            <a:endParaRPr lang="en-US" sz="1500" dirty="0"/>
          </a:p>
        </p:txBody>
      </p:sp>
      <p:pic>
        <p:nvPicPr>
          <p:cNvPr id="30" name="Image 3" descr="/mnt/data/week6_icons/triangle-exclamation_F4B94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005072"/>
            <a:ext cx="164592" cy="16459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16152" y="397764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DCE9F3"/>
                </a:solidFill>
              </a:rPr>
              <a:t>Phishing, hacking and identity theft reduce confidence in e-banking.</a:t>
            </a:r>
            <a:endParaRPr lang="en-US" sz="1140" dirty="0"/>
          </a:p>
        </p:txBody>
      </p:sp>
      <p:pic>
        <p:nvPicPr>
          <p:cNvPr id="32" name="Image 4" descr="/mnt/data/week6_icons/people-group_22C7C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489704"/>
            <a:ext cx="164592" cy="16459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216152" y="4462272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DCE9F3"/>
                </a:solidFill>
              </a:rPr>
              <a:t>The effect is not only technical; it also affects adoption and retention.</a:t>
            </a:r>
            <a:endParaRPr lang="en-US" sz="1140" dirty="0"/>
          </a:p>
        </p:txBody>
      </p:sp>
      <p:sp>
        <p:nvSpPr>
          <p:cNvPr id="34" name="Shape 27"/>
          <p:cNvSpPr/>
          <p:nvPr/>
        </p:nvSpPr>
        <p:spPr>
          <a:xfrm>
            <a:off x="6172200" y="324612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0D2738"/>
          </a:solidFill>
          <a:ln w="12700">
            <a:solidFill>
              <a:srgbClr val="21465E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446520" y="3547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C"/>
                </a:solidFill>
              </a:rPr>
              <a:t>Why this matters for local practice</a:t>
            </a:r>
            <a:endParaRPr lang="en-US" sz="1500" dirty="0"/>
          </a:p>
        </p:txBody>
      </p:sp>
      <p:pic>
        <p:nvPicPr>
          <p:cNvPr id="36" name="Image 5" descr="/mnt/data/week6_icons/shield-halved_2FB66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005072"/>
            <a:ext cx="164592" cy="16459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702552" y="3977640"/>
            <a:ext cx="4270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DCE9F3"/>
                </a:solidFill>
              </a:rPr>
              <a:t>Controls should connect detection, customer communication and rapid account/channel blocking.</a:t>
            </a:r>
            <a:endParaRPr lang="en-US" sz="1140" dirty="0"/>
          </a:p>
        </p:txBody>
      </p:sp>
      <p:pic>
        <p:nvPicPr>
          <p:cNvPr id="38" name="Image 6" descr="/mnt/data/week6_icons/language_8D72E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4489704"/>
            <a:ext cx="164592" cy="16459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702552" y="4462272"/>
            <a:ext cx="4270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DCE9F3"/>
                </a:solidFill>
              </a:rPr>
              <a:t>Local-language and Pakistan-specific scam datasets are still limited.</a:t>
            </a:r>
            <a:endParaRPr lang="en-US" sz="1140" dirty="0"/>
          </a:p>
        </p:txBody>
      </p:sp>
      <p:sp>
        <p:nvSpPr>
          <p:cNvPr id="40" name="Text 31"/>
          <p:cNvSpPr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F8798"/>
                </a:solidFill>
              </a:rPr>
              <a:t>Abbas &amp; Arif (2023); State Bank of Pakistan circulars (2021, 2023).</a:t>
            </a:r>
            <a:endParaRPr lang="en-US" sz="710" dirty="0"/>
          </a:p>
        </p:txBody>
      </p:sp>
      <p:sp>
        <p:nvSpPr>
          <p:cNvPr id="41" name="Text 32"/>
          <p:cNvSpPr/>
          <p:nvPr/>
        </p:nvSpPr>
        <p:spPr>
          <a:xfrm>
            <a:off x="10195560" y="6565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F8798"/>
                </a:solidFill>
              </a:rPr>
              <a:t>Imtiaz Ali  |  Week 6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47104"/>
            <a:ext cx="117317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9509760" y="-640080"/>
            <a:ext cx="3291840" cy="329184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5374E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274320"/>
            <a:ext cx="2560320" cy="256032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E536A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RESEARCH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82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A8BA"/>
                </a:solidFill>
              </a:rPr>
              <a:t>NCERT Digital Forensics Internship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Open-source tools that fit the workflow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66928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1A8BA"/>
                </a:solidFill>
              </a:rPr>
              <a:t>A practical defense stack does not need to depend on one commercial product.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3232" y="178308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102A3D"/>
          </a:solidFill>
          <a:ln w="12700">
            <a:solidFill>
              <a:srgbClr val="234B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920240"/>
            <a:ext cx="438912" cy="438912"/>
          </a:xfrm>
          <a:prstGeom prst="ellipse">
            <a:avLst/>
          </a:prstGeom>
          <a:solidFill>
            <a:srgbClr val="0B2130"/>
          </a:solidFill>
          <a:ln w="12700">
            <a:solidFill>
              <a:srgbClr val="22C7C9"/>
            </a:solidFill>
            <a:prstDash val="solid"/>
          </a:ln>
        </p:spPr>
      </p:sp>
      <p:pic>
        <p:nvPicPr>
          <p:cNvPr id="12" name="Image 0" descr="/mnt/data/week6_icons/magnifying-glass_22C7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027" y="2016801"/>
            <a:ext cx="228234" cy="22823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54480" y="1911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</a:rPr>
              <a:t>Phishpedia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66160" y="191109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7C9"/>
                </a:solidFill>
              </a:rPr>
              <a:t>Visual phishing / brand impersonation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263640" y="189280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CE9F3"/>
                </a:solidFill>
              </a:rPr>
              <a:t>Research code + phishing webpage analysis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713232" y="2642616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0D2637"/>
          </a:solidFill>
          <a:ln w="12700">
            <a:solidFill>
              <a:srgbClr val="234B6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32688" y="2779776"/>
            <a:ext cx="438912" cy="438912"/>
          </a:xfrm>
          <a:prstGeom prst="ellipse">
            <a:avLst/>
          </a:prstGeom>
          <a:solidFill>
            <a:srgbClr val="0B2130"/>
          </a:solidFill>
          <a:ln w="12700">
            <a:solidFill>
              <a:srgbClr val="8D72E1"/>
            </a:solidFill>
            <a:prstDash val="solid"/>
          </a:ln>
        </p:spPr>
      </p:sp>
      <p:pic>
        <p:nvPicPr>
          <p:cNvPr id="18" name="Image 1" descr="/mnt/data/week6_icons/share-nodes_8D72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027" y="2876337"/>
            <a:ext cx="228234" cy="22823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54480" y="2770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</a:rPr>
              <a:t>MISP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566160" y="27706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D72E1"/>
                </a:solidFill>
              </a:rPr>
              <a:t>Threat intelligence sharing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263640" y="275234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CE9F3"/>
                </a:solidFill>
              </a:rPr>
              <a:t>Indicators, domains, IPs, hashes, feeds</a:t>
            </a:r>
            <a:endParaRPr lang="en-US" sz="1120" dirty="0"/>
          </a:p>
        </p:txBody>
      </p:sp>
      <p:sp>
        <p:nvSpPr>
          <p:cNvPr id="22" name="Shape 18"/>
          <p:cNvSpPr/>
          <p:nvPr/>
        </p:nvSpPr>
        <p:spPr>
          <a:xfrm>
            <a:off x="713232" y="3502152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102A3D"/>
          </a:solidFill>
          <a:ln w="12700">
            <a:solidFill>
              <a:srgbClr val="234B6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32688" y="3639312"/>
            <a:ext cx="438912" cy="438912"/>
          </a:xfrm>
          <a:prstGeom prst="ellipse">
            <a:avLst/>
          </a:prstGeom>
          <a:solidFill>
            <a:srgbClr val="0B2130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24" name="Image 2" descr="/mnt/data/week6_icons/bug_F4B94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27" y="3735873"/>
            <a:ext cx="228234" cy="22823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554480" y="3630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</a:rPr>
              <a:t>YARA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3566160" y="36301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B942"/>
                </a:solidFill>
              </a:rPr>
              <a:t>Pattern matching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263640" y="36118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CE9F3"/>
                </a:solidFill>
              </a:rPr>
              <a:t>Reusable rules for files, strings and suspicious content</a:t>
            </a:r>
            <a:endParaRPr lang="en-US" sz="1120" dirty="0"/>
          </a:p>
        </p:txBody>
      </p:sp>
      <p:sp>
        <p:nvSpPr>
          <p:cNvPr id="28" name="Shape 23"/>
          <p:cNvSpPr/>
          <p:nvPr/>
        </p:nvSpPr>
        <p:spPr>
          <a:xfrm>
            <a:off x="713232" y="4361688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0D2637"/>
          </a:solidFill>
          <a:ln w="12700">
            <a:solidFill>
              <a:srgbClr val="234B6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32688" y="4498848"/>
            <a:ext cx="438912" cy="438912"/>
          </a:xfrm>
          <a:prstGeom prst="ellipse">
            <a:avLst/>
          </a:prstGeom>
          <a:solidFill>
            <a:srgbClr val="0B2130"/>
          </a:solidFill>
          <a:ln w="12700">
            <a:solidFill>
              <a:srgbClr val="4389F5"/>
            </a:solidFill>
            <a:prstDash val="solid"/>
          </a:ln>
        </p:spPr>
      </p:sp>
      <p:pic>
        <p:nvPicPr>
          <p:cNvPr id="30" name="Image 3" descr="/mnt/data/week6_icons/network-wired_4389F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027" y="4595409"/>
            <a:ext cx="228234" cy="22823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554480" y="44897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</a:rPr>
              <a:t>Zeek / Suricata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3566160" y="44897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89F5"/>
                </a:solidFill>
              </a:rPr>
              <a:t>Network monitoring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263640" y="447141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CE9F3"/>
                </a:solidFill>
              </a:rPr>
              <a:t>DNS, HTTP, TLS and IDS evidence</a:t>
            </a:r>
            <a:endParaRPr lang="en-US" sz="1120" dirty="0"/>
          </a:p>
        </p:txBody>
      </p:sp>
      <p:sp>
        <p:nvSpPr>
          <p:cNvPr id="34" name="Shape 28"/>
          <p:cNvSpPr/>
          <p:nvPr/>
        </p:nvSpPr>
        <p:spPr>
          <a:xfrm>
            <a:off x="713232" y="5221224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102A3D"/>
          </a:solidFill>
          <a:ln w="12700">
            <a:solidFill>
              <a:srgbClr val="234B6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932688" y="5358384"/>
            <a:ext cx="438912" cy="438912"/>
          </a:xfrm>
          <a:prstGeom prst="ellipse">
            <a:avLst/>
          </a:prstGeom>
          <a:solidFill>
            <a:srgbClr val="0B2130"/>
          </a:solidFill>
          <a:ln w="12700">
            <a:solidFill>
              <a:srgbClr val="2FB66D"/>
            </a:solidFill>
            <a:prstDash val="solid"/>
          </a:ln>
        </p:spPr>
      </p:sp>
      <p:pic>
        <p:nvPicPr>
          <p:cNvPr id="36" name="Image 4" descr="/mnt/data/week6_icons/database_2FB66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027" y="5454945"/>
            <a:ext cx="228234" cy="22823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554480" y="5349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C"/>
                </a:solidFill>
              </a:rPr>
              <a:t>PhishTank / OpenPhish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3566160" y="534924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B66D"/>
                </a:solidFill>
              </a:rPr>
              <a:t>Public feeds / datasets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6263640" y="533095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CE9F3"/>
                </a:solidFill>
              </a:rPr>
              <a:t>Useful for validation and lab exercises</a:t>
            </a:r>
            <a:endParaRPr lang="en-US" sz="1120" dirty="0"/>
          </a:p>
        </p:txBody>
      </p:sp>
      <p:sp>
        <p:nvSpPr>
          <p:cNvPr id="40" name="Text 33"/>
          <p:cNvSpPr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F8798"/>
                </a:solidFill>
              </a:rPr>
              <a:t>Open-source references: Phishpedia, MISP, YARA, Zeek; public phishing feeds used in research and testing.</a:t>
            </a:r>
            <a:endParaRPr lang="en-US" sz="710" dirty="0"/>
          </a:p>
        </p:txBody>
      </p:sp>
      <p:sp>
        <p:nvSpPr>
          <p:cNvPr id="41" name="Text 34"/>
          <p:cNvSpPr/>
          <p:nvPr/>
        </p:nvSpPr>
        <p:spPr>
          <a:xfrm>
            <a:off x="10195560" y="6565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F8798"/>
                </a:solidFill>
              </a:rPr>
              <a:t>Imtiaz Ali  |  Week 6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47104"/>
            <a:ext cx="117317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9509760" y="-640080"/>
            <a:ext cx="3291840" cy="329184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5374E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274320"/>
            <a:ext cx="2560320" cy="256032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E536A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RESEARCH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82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A8BA"/>
                </a:solidFill>
              </a:rPr>
              <a:t>NCERT Digital Forensics Internship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research to an open-source defensive workflow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66928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1A8BA"/>
                </a:solidFill>
              </a:rPr>
              <a:t>A layered workflow reduces dependence on one detector and keeps evidence explainable.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6072" y="2011680"/>
            <a:ext cx="2011680" cy="2834640"/>
          </a:xfrm>
          <a:prstGeom prst="roundRect">
            <a:avLst>
              <a:gd name="adj" fmla="val 3636"/>
            </a:avLst>
          </a:prstGeom>
          <a:solidFill>
            <a:srgbClr val="0D2738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2313432"/>
            <a:ext cx="676656" cy="676656"/>
          </a:xfrm>
          <a:prstGeom prst="ellipse">
            <a:avLst/>
          </a:prstGeom>
          <a:solidFill>
            <a:srgbClr val="0A223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12" name="Image 0" descr="/mnt/data/week6_icons/envelope-open-text_F4B9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981" y="2462296"/>
            <a:ext cx="351861" cy="35186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3264408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</a:rPr>
              <a:t>Collect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13816" y="3767328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91A8BA"/>
                </a:solidFill>
              </a:rPr>
              <a:t>Email / URL / screenshot / network indicators</a:t>
            </a:r>
            <a:endParaRPr lang="en-US" sz="1060" dirty="0"/>
          </a:p>
        </p:txBody>
      </p:sp>
      <p:pic>
        <p:nvPicPr>
          <p:cNvPr id="15" name="Image 1" descr="/mnt/data/week6_icons/arrow-right_4C708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3200400"/>
            <a:ext cx="274320" cy="2743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898648" y="2011680"/>
            <a:ext cx="2011680" cy="2834640"/>
          </a:xfrm>
          <a:prstGeom prst="roundRect">
            <a:avLst>
              <a:gd name="adj" fmla="val 3636"/>
            </a:avLst>
          </a:prstGeom>
          <a:solidFill>
            <a:srgbClr val="0D2738"/>
          </a:solidFill>
          <a:ln w="12700">
            <a:solidFill>
              <a:srgbClr val="22C7C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566160" y="2313432"/>
            <a:ext cx="676656" cy="676656"/>
          </a:xfrm>
          <a:prstGeom prst="ellipse">
            <a:avLst/>
          </a:prstGeom>
          <a:solidFill>
            <a:srgbClr val="0A2232"/>
          </a:solidFill>
          <a:ln w="12700">
            <a:solidFill>
              <a:srgbClr val="22C7C9"/>
            </a:solidFill>
            <a:prstDash val="solid"/>
          </a:ln>
        </p:spPr>
      </p:sp>
      <p:pic>
        <p:nvPicPr>
          <p:cNvPr id="18" name="Image 2" descr="/mnt/data/week6_icons/magnifying-glass_22C7C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557" y="2462296"/>
            <a:ext cx="351861" cy="3518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099816" y="3264408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</a:rPr>
              <a:t>Analyze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136392" y="3767328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91A8BA"/>
                </a:solidFill>
              </a:rPr>
              <a:t>Visual match, text features, URL signals, behavior</a:t>
            </a:r>
            <a:endParaRPr lang="en-US" sz="1060" dirty="0"/>
          </a:p>
        </p:txBody>
      </p:sp>
      <p:pic>
        <p:nvPicPr>
          <p:cNvPr id="21" name="Image 3" descr="/mnt/data/week6_icons/arrow-right_4C708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200400"/>
            <a:ext cx="274320" cy="2743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221224" y="2011680"/>
            <a:ext cx="2011680" cy="2834640"/>
          </a:xfrm>
          <a:prstGeom prst="roundRect">
            <a:avLst>
              <a:gd name="adj" fmla="val 3636"/>
            </a:avLst>
          </a:prstGeom>
          <a:solidFill>
            <a:srgbClr val="0D2738"/>
          </a:solidFill>
          <a:ln w="12700">
            <a:solidFill>
              <a:srgbClr val="8D72E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888736" y="2313432"/>
            <a:ext cx="676656" cy="676656"/>
          </a:xfrm>
          <a:prstGeom prst="ellipse">
            <a:avLst/>
          </a:prstGeom>
          <a:solidFill>
            <a:srgbClr val="0A2232"/>
          </a:solidFill>
          <a:ln w="12700">
            <a:solidFill>
              <a:srgbClr val="8D72E1"/>
            </a:solidFill>
            <a:prstDash val="solid"/>
          </a:ln>
        </p:spPr>
      </p:sp>
      <p:pic>
        <p:nvPicPr>
          <p:cNvPr id="24" name="Image 4" descr="/mnt/data/week6_icons/share-nodes_8D72E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133" y="2462296"/>
            <a:ext cx="351861" cy="35186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22392" y="3264408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</a:rPr>
              <a:t>Enrich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458968" y="3767328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91A8BA"/>
                </a:solidFill>
              </a:rPr>
              <a:t>MISP + public feeds + local threat intelligence</a:t>
            </a:r>
            <a:endParaRPr lang="en-US" sz="1060" dirty="0"/>
          </a:p>
        </p:txBody>
      </p:sp>
      <p:pic>
        <p:nvPicPr>
          <p:cNvPr id="27" name="Image 5" descr="/mnt/data/week6_icons/arrow-right_4C708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624" y="3200400"/>
            <a:ext cx="274320" cy="27432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543800" y="2011680"/>
            <a:ext cx="2011680" cy="2834640"/>
          </a:xfrm>
          <a:prstGeom prst="roundRect">
            <a:avLst>
              <a:gd name="adj" fmla="val 3636"/>
            </a:avLst>
          </a:prstGeom>
          <a:solidFill>
            <a:srgbClr val="0D2738"/>
          </a:solidFill>
          <a:ln w="12700">
            <a:solidFill>
              <a:srgbClr val="4389F5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8211312" y="2313432"/>
            <a:ext cx="676656" cy="676656"/>
          </a:xfrm>
          <a:prstGeom prst="ellipse">
            <a:avLst/>
          </a:prstGeom>
          <a:solidFill>
            <a:srgbClr val="0A2232"/>
          </a:solidFill>
          <a:ln w="12700">
            <a:solidFill>
              <a:srgbClr val="4389F5"/>
            </a:solidFill>
            <a:prstDash val="solid"/>
          </a:ln>
        </p:spPr>
      </p:sp>
      <p:pic>
        <p:nvPicPr>
          <p:cNvPr id="30" name="Image 6" descr="/mnt/data/week6_icons/shield-halved_4389F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3709" y="2462296"/>
            <a:ext cx="351861" cy="35186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744968" y="3264408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</a:rPr>
              <a:t>Detect</a:t>
            </a:r>
            <a:endParaRPr lang="en-US" sz="1600" dirty="0"/>
          </a:p>
        </p:txBody>
      </p:sp>
      <p:sp>
        <p:nvSpPr>
          <p:cNvPr id="32" name="Text 23"/>
          <p:cNvSpPr/>
          <p:nvPr/>
        </p:nvSpPr>
        <p:spPr>
          <a:xfrm>
            <a:off x="7781544" y="3767328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91A8BA"/>
                </a:solidFill>
              </a:rPr>
              <a:t>YARA / Zeek / Suricata / model alerts</a:t>
            </a:r>
            <a:endParaRPr lang="en-US" sz="1060" dirty="0"/>
          </a:p>
        </p:txBody>
      </p:sp>
      <p:pic>
        <p:nvPicPr>
          <p:cNvPr id="33" name="Image 7" descr="/mnt/data/week6_icons/arrow-right_4C708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0" y="3200400"/>
            <a:ext cx="274320" cy="27432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9866376" y="2011680"/>
            <a:ext cx="2011680" cy="2834640"/>
          </a:xfrm>
          <a:prstGeom prst="roundRect">
            <a:avLst>
              <a:gd name="adj" fmla="val 3636"/>
            </a:avLst>
          </a:prstGeom>
          <a:solidFill>
            <a:srgbClr val="0D2738"/>
          </a:solidFill>
          <a:ln w="12700">
            <a:solidFill>
              <a:srgbClr val="2FB66D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10533888" y="2313432"/>
            <a:ext cx="676656" cy="676656"/>
          </a:xfrm>
          <a:prstGeom prst="ellipse">
            <a:avLst/>
          </a:prstGeom>
          <a:solidFill>
            <a:srgbClr val="0A2232"/>
          </a:solidFill>
          <a:ln w="12700">
            <a:solidFill>
              <a:srgbClr val="2FB66D"/>
            </a:solidFill>
            <a:prstDash val="solid"/>
          </a:ln>
        </p:spPr>
      </p:sp>
      <p:pic>
        <p:nvPicPr>
          <p:cNvPr id="36" name="Image 8" descr="/mnt/data/week6_icons/building-columns_2FB66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6285" y="2462296"/>
            <a:ext cx="351861" cy="351861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0067544" y="3264408"/>
            <a:ext cx="1609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</a:rPr>
              <a:t>Respond</a:t>
            </a:r>
            <a:endParaRPr lang="en-US" sz="1600" dirty="0"/>
          </a:p>
        </p:txBody>
      </p:sp>
      <p:sp>
        <p:nvSpPr>
          <p:cNvPr id="38" name="Text 27"/>
          <p:cNvSpPr/>
          <p:nvPr/>
        </p:nvSpPr>
        <p:spPr>
          <a:xfrm>
            <a:off x="10104120" y="3767328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91A8BA"/>
                </a:solidFill>
              </a:rPr>
              <a:t>Block, notify, investigate, preserve evidence</a:t>
            </a:r>
            <a:endParaRPr lang="en-US" sz="1060" dirty="0"/>
          </a:p>
        </p:txBody>
      </p:sp>
      <p:sp>
        <p:nvSpPr>
          <p:cNvPr id="39" name="Shape 28"/>
          <p:cNvSpPr/>
          <p:nvPr/>
        </p:nvSpPr>
        <p:spPr>
          <a:xfrm>
            <a:off x="1097280" y="521208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0A2030"/>
          </a:solidFill>
          <a:ln w="12700">
            <a:solidFill>
              <a:srgbClr val="1F4B60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1325880" y="5394960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DCE9F3"/>
                </a:solidFill>
              </a:rPr>
              <a:t>Pakistan adaptation: add Urdu/Roman-Urdu examples, local bank/telecom impersonation patterns, and a clear escalation path to the relevant institution.</a:t>
            </a:r>
            <a:endParaRPr lang="en-US" sz="1140" dirty="0"/>
          </a:p>
        </p:txBody>
      </p:sp>
      <p:sp>
        <p:nvSpPr>
          <p:cNvPr id="41" name="Text 30"/>
          <p:cNvSpPr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F8798"/>
                </a:solidFill>
              </a:rPr>
              <a:t>Practical synthesis from the reviewed literature and open-source tool documentation.</a:t>
            </a:r>
            <a:endParaRPr lang="en-US" sz="710" dirty="0"/>
          </a:p>
        </p:txBody>
      </p:sp>
      <p:sp>
        <p:nvSpPr>
          <p:cNvPr id="42" name="Text 31"/>
          <p:cNvSpPr/>
          <p:nvPr/>
        </p:nvSpPr>
        <p:spPr>
          <a:xfrm>
            <a:off x="10195560" y="6565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F8798"/>
                </a:solidFill>
              </a:rPr>
              <a:t>Imtiaz Ali  |  Week 6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47104"/>
            <a:ext cx="117317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9509760" y="-640080"/>
            <a:ext cx="3291840" cy="329184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5374E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274320"/>
            <a:ext cx="2560320" cy="256032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E536A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RESEARCH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82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A8BA"/>
                </a:solidFill>
              </a:rPr>
              <a:t>NCERT Digital Forensics Internship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unsolved problems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66928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1A8BA"/>
                </a:solidFill>
              </a:rPr>
              <a:t>These are the areas where current work still leaves room for research and better local practice.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3611880" cy="3611880"/>
          </a:xfrm>
          <a:prstGeom prst="roundRect">
            <a:avLst>
              <a:gd name="adj" fmla="val 2025"/>
            </a:avLst>
          </a:prstGeom>
          <a:solidFill>
            <a:srgbClr val="0D2738"/>
          </a:solidFill>
          <a:ln w="12700">
            <a:solidFill>
              <a:srgbClr val="22C7C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057400"/>
            <a:ext cx="475488" cy="475488"/>
          </a:xfrm>
          <a:prstGeom prst="ellipse">
            <a:avLst/>
          </a:prstGeom>
          <a:solidFill>
            <a:srgbClr val="22C7C9"/>
          </a:solidFill>
          <a:ln w="12700">
            <a:solidFill>
              <a:srgbClr val="22C7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2140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827"/>
                </a:solidFill>
              </a:rPr>
              <a:t>1</a:t>
            </a:r>
            <a:endParaRPr lang="en-US" sz="1400" dirty="0"/>
          </a:p>
        </p:txBody>
      </p:sp>
      <p:pic>
        <p:nvPicPr>
          <p:cNvPr id="13" name="Image 0" descr="/mnt/data/week6_icons/language_22C7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1993392"/>
            <a:ext cx="438912" cy="4389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41832" y="2743200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Local &amp; multilingual data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41832" y="3429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DCE9F3"/>
                </a:solidFill>
              </a:rPr>
              <a:t>Most public datasets are not built around Urdu, Roman Urdu, local bank brands or Pakistani scam wording.</a:t>
            </a:r>
            <a:endParaRPr lang="en-US" sz="1130" dirty="0"/>
          </a:p>
        </p:txBody>
      </p:sp>
      <p:sp>
        <p:nvSpPr>
          <p:cNvPr id="16" name="Shape 13"/>
          <p:cNvSpPr/>
          <p:nvPr/>
        </p:nvSpPr>
        <p:spPr>
          <a:xfrm>
            <a:off x="941832" y="4370832"/>
            <a:ext cx="2971800" cy="0"/>
          </a:xfrm>
          <a:prstGeom prst="line">
            <a:avLst/>
          </a:prstGeom>
          <a:noFill/>
          <a:ln w="12700">
            <a:solidFill>
              <a:srgbClr val="3154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832" y="45720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7C9"/>
                </a:solidFill>
              </a:rPr>
              <a:t>Research need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41832" y="480060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91A8BA"/>
                </a:solidFill>
              </a:rPr>
              <a:t>Without local data, a high benchmark score may not represent real local performance.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4526280" y="1828800"/>
            <a:ext cx="3611880" cy="3611880"/>
          </a:xfrm>
          <a:prstGeom prst="roundRect">
            <a:avLst>
              <a:gd name="adj" fmla="val 2025"/>
            </a:avLst>
          </a:prstGeom>
          <a:solidFill>
            <a:srgbClr val="0D2738"/>
          </a:solidFill>
          <a:ln w="12700">
            <a:solidFill>
              <a:srgbClr val="8D72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2057400"/>
            <a:ext cx="475488" cy="475488"/>
          </a:xfrm>
          <a:prstGeom prst="ellipse">
            <a:avLst/>
          </a:prstGeom>
          <a:solidFill>
            <a:srgbClr val="8D72E1"/>
          </a:solidFill>
          <a:ln w="12700">
            <a:solidFill>
              <a:srgbClr val="8D72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212140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827"/>
                </a:solidFill>
              </a:rPr>
              <a:t>2</a:t>
            </a:r>
            <a:endParaRPr lang="en-US" sz="1400" dirty="0"/>
          </a:p>
        </p:txBody>
      </p:sp>
      <p:pic>
        <p:nvPicPr>
          <p:cNvPr id="22" name="Image 1" descr="/mnt/data/week6_icons/brain_8D72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93392"/>
            <a:ext cx="438912" cy="43891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782312" y="2743200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Adaptive &amp; AI-assisted scams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4782312" y="3429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DCE9F3"/>
                </a:solidFill>
              </a:rPr>
              <a:t>Attackers can rapidly change wording, visuals, domains and conversational scripts, including AI-generated content.</a:t>
            </a:r>
            <a:endParaRPr lang="en-US" sz="1130" dirty="0"/>
          </a:p>
        </p:txBody>
      </p:sp>
      <p:sp>
        <p:nvSpPr>
          <p:cNvPr id="25" name="Shape 21"/>
          <p:cNvSpPr/>
          <p:nvPr/>
        </p:nvSpPr>
        <p:spPr>
          <a:xfrm>
            <a:off x="4782312" y="4370832"/>
            <a:ext cx="2971800" cy="0"/>
          </a:xfrm>
          <a:prstGeom prst="line">
            <a:avLst/>
          </a:prstGeom>
          <a:noFill/>
          <a:ln w="12700">
            <a:solidFill>
              <a:srgbClr val="31546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82312" y="45720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72E1"/>
                </a:solidFill>
              </a:rPr>
              <a:t>Research need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782312" y="480060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91A8BA"/>
                </a:solidFill>
              </a:rPr>
              <a:t>Models need continuous updating without creating too many false alerts.</a:t>
            </a:r>
            <a:endParaRPr lang="en-US" sz="1040" dirty="0"/>
          </a:p>
        </p:txBody>
      </p:sp>
      <p:sp>
        <p:nvSpPr>
          <p:cNvPr id="28" name="Shape 24"/>
          <p:cNvSpPr/>
          <p:nvPr/>
        </p:nvSpPr>
        <p:spPr>
          <a:xfrm>
            <a:off x="8366760" y="1828800"/>
            <a:ext cx="3611880" cy="3611880"/>
          </a:xfrm>
          <a:prstGeom prst="roundRect">
            <a:avLst>
              <a:gd name="adj" fmla="val 2025"/>
            </a:avLst>
          </a:prstGeom>
          <a:solidFill>
            <a:srgbClr val="0D2738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595360" y="2057400"/>
            <a:ext cx="475488" cy="47548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595360" y="212140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827"/>
                </a:solidFill>
              </a:rPr>
              <a:t>3</a:t>
            </a:r>
            <a:endParaRPr lang="en-US" sz="1400" dirty="0"/>
          </a:p>
        </p:txBody>
      </p:sp>
      <p:pic>
        <p:nvPicPr>
          <p:cNvPr id="31" name="Image 2" descr="/mnt/data/week6_icons/share-nodes_F4B94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1993392"/>
            <a:ext cx="438912" cy="43891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622792" y="2743200"/>
            <a:ext cx="3035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Cross-channel evidence sharing</a:t>
            </a:r>
            <a:endParaRPr lang="en-US" sz="1700" dirty="0"/>
          </a:p>
        </p:txBody>
      </p:sp>
      <p:sp>
        <p:nvSpPr>
          <p:cNvPr id="33" name="Text 28"/>
          <p:cNvSpPr/>
          <p:nvPr/>
        </p:nvSpPr>
        <p:spPr>
          <a:xfrm>
            <a:off x="8622792" y="3429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DCE9F3"/>
                </a:solidFill>
              </a:rPr>
              <a:t>A single incident may involve a call, SMS, website, bank account and transaction. Evidence is fragmented across organizations.</a:t>
            </a:r>
            <a:endParaRPr lang="en-US" sz="1130" dirty="0"/>
          </a:p>
        </p:txBody>
      </p:sp>
      <p:sp>
        <p:nvSpPr>
          <p:cNvPr id="34" name="Shape 29"/>
          <p:cNvSpPr/>
          <p:nvPr/>
        </p:nvSpPr>
        <p:spPr>
          <a:xfrm>
            <a:off x="8622792" y="4370832"/>
            <a:ext cx="2971800" cy="0"/>
          </a:xfrm>
          <a:prstGeom prst="line">
            <a:avLst/>
          </a:prstGeom>
          <a:noFill/>
          <a:ln w="12700">
            <a:solidFill>
              <a:srgbClr val="31546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622792" y="45720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B942"/>
                </a:solidFill>
              </a:rPr>
              <a:t>Research need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622792" y="480060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91A8BA"/>
                </a:solidFill>
              </a:rPr>
              <a:t>Useful sharing must be fast, privacy-aware and technically interoperable.</a:t>
            </a:r>
            <a:endParaRPr lang="en-US" sz="1040" dirty="0"/>
          </a:p>
        </p:txBody>
      </p:sp>
      <p:sp>
        <p:nvSpPr>
          <p:cNvPr id="37" name="Text 32"/>
          <p:cNvSpPr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F8798"/>
                </a:solidFill>
              </a:rPr>
              <a:t>Open problems synthesized from the reviewed 2020-2024 literature and Pakistan-focused discussion.</a:t>
            </a:r>
            <a:endParaRPr lang="en-US" sz="710" dirty="0"/>
          </a:p>
        </p:txBody>
      </p:sp>
      <p:sp>
        <p:nvSpPr>
          <p:cNvPr id="38" name="Text 33"/>
          <p:cNvSpPr/>
          <p:nvPr/>
        </p:nvSpPr>
        <p:spPr>
          <a:xfrm>
            <a:off x="10195560" y="6565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F8798"/>
                </a:solidFill>
              </a:rPr>
              <a:t>Imtiaz Ali  |  Week 6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47104"/>
            <a:ext cx="117317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9509760" y="-640080"/>
            <a:ext cx="3291840" cy="329184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5374E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274320"/>
            <a:ext cx="2560320" cy="256032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E536A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RESEARCH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82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A8BA"/>
                </a:solidFill>
              </a:rPr>
              <a:t>NCERT Digital Forensics Internship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recommendations for Pakistan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66928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1A8BA"/>
                </a:solidFill>
              </a:rPr>
              <a:t>Small, testable steps that connect research with defensive practice.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73736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102C40"/>
          </a:solidFill>
          <a:ln w="12700">
            <a:solidFill>
              <a:srgbClr val="244B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18745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A2030"/>
          </a:solidFill>
          <a:ln w="12700">
            <a:solidFill>
              <a:srgbClr val="22C7C9"/>
            </a:solidFill>
            <a:prstDash val="solid"/>
          </a:ln>
        </p:spPr>
      </p:sp>
      <p:pic>
        <p:nvPicPr>
          <p:cNvPr id="12" name="Image 0" descr="/mnt/data/week6_icons/database_22C7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993392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00200" y="18653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F7FAFC"/>
                </a:solidFill>
              </a:rPr>
              <a:t>Build a local dataset</a:t>
            </a:r>
            <a:endParaRPr lang="en-US" sz="1330" dirty="0"/>
          </a:p>
        </p:txBody>
      </p:sp>
      <p:sp>
        <p:nvSpPr>
          <p:cNvPr id="14" name="Text 11"/>
          <p:cNvSpPr/>
          <p:nvPr/>
        </p:nvSpPr>
        <p:spPr>
          <a:xfrm>
            <a:off x="4343400" y="1847088"/>
            <a:ext cx="6492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CE9F3"/>
                </a:solidFill>
              </a:rPr>
              <a:t>Collect privacy-safe examples of Urdu/Roman-Urdu messages, local brand impersonation and scam URLs.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777240" y="2587752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0C2637"/>
          </a:solidFill>
          <a:ln w="12700">
            <a:solidFill>
              <a:srgbClr val="244B6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0120" y="272491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A2030"/>
          </a:solidFill>
          <a:ln w="12700">
            <a:solidFill>
              <a:srgbClr val="4389F5"/>
            </a:solidFill>
            <a:prstDash val="solid"/>
          </a:ln>
        </p:spPr>
      </p:sp>
      <p:pic>
        <p:nvPicPr>
          <p:cNvPr id="17" name="Image 1" descr="/mnt/data/week6_icons/circle-nodes_4389F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843784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00200" y="27157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F7FAFC"/>
                </a:solidFill>
              </a:rPr>
              <a:t>Use layered detection</a:t>
            </a:r>
            <a:endParaRPr lang="en-US" sz="1330" dirty="0"/>
          </a:p>
        </p:txBody>
      </p:sp>
      <p:sp>
        <p:nvSpPr>
          <p:cNvPr id="19" name="Text 15"/>
          <p:cNvSpPr/>
          <p:nvPr/>
        </p:nvSpPr>
        <p:spPr>
          <a:xfrm>
            <a:off x="4343400" y="2697480"/>
            <a:ext cx="6492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CE9F3"/>
                </a:solidFill>
              </a:rPr>
              <a:t>Combine URL, visual, content and behavioral signals instead of trusting one classifier.</a:t>
            </a:r>
            <a:endParaRPr lang="en-US" sz="1120" dirty="0"/>
          </a:p>
        </p:txBody>
      </p:sp>
      <p:sp>
        <p:nvSpPr>
          <p:cNvPr id="20" name="Shape 16"/>
          <p:cNvSpPr/>
          <p:nvPr/>
        </p:nvSpPr>
        <p:spPr>
          <a:xfrm>
            <a:off x="777240" y="3438144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102C40"/>
          </a:solidFill>
          <a:ln w="12700">
            <a:solidFill>
              <a:srgbClr val="244B6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60120" y="357530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A2030"/>
          </a:solidFill>
          <a:ln w="12700">
            <a:solidFill>
              <a:srgbClr val="8D72E1"/>
            </a:solidFill>
            <a:prstDash val="solid"/>
          </a:ln>
        </p:spPr>
      </p:sp>
      <p:pic>
        <p:nvPicPr>
          <p:cNvPr id="22" name="Image 2" descr="/mnt/data/week6_icons/share-nodes_8D72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3694176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00200" y="3566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F7FAFC"/>
                </a:solidFill>
              </a:rPr>
              <a:t>Share structured indicators</a:t>
            </a:r>
            <a:endParaRPr lang="en-US" sz="1330" dirty="0"/>
          </a:p>
        </p:txBody>
      </p:sp>
      <p:sp>
        <p:nvSpPr>
          <p:cNvPr id="24" name="Text 19"/>
          <p:cNvSpPr/>
          <p:nvPr/>
        </p:nvSpPr>
        <p:spPr>
          <a:xfrm>
            <a:off x="4343400" y="3547872"/>
            <a:ext cx="6492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CE9F3"/>
                </a:solidFill>
              </a:rPr>
              <a:t>Use MISP/STIX-style records for domains, URLs, IPs and campaign context.</a:t>
            </a:r>
            <a:endParaRPr lang="en-US" sz="1120" dirty="0"/>
          </a:p>
        </p:txBody>
      </p:sp>
      <p:sp>
        <p:nvSpPr>
          <p:cNvPr id="25" name="Shape 20"/>
          <p:cNvSpPr/>
          <p:nvPr/>
        </p:nvSpPr>
        <p:spPr>
          <a:xfrm>
            <a:off x="777240" y="4288536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0C2637"/>
          </a:solidFill>
          <a:ln w="12700">
            <a:solidFill>
              <a:srgbClr val="244B6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60120" y="442569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A2030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27" name="Image 3" descr="/mnt/data/week6_icons/people-group_F4B94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4544568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44165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F7FAFC"/>
                </a:solidFill>
              </a:rPr>
              <a:t>Train users with local examples</a:t>
            </a:r>
            <a:endParaRPr lang="en-US" sz="1330" dirty="0"/>
          </a:p>
        </p:txBody>
      </p:sp>
      <p:sp>
        <p:nvSpPr>
          <p:cNvPr id="29" name="Text 23"/>
          <p:cNvSpPr/>
          <p:nvPr/>
        </p:nvSpPr>
        <p:spPr>
          <a:xfrm>
            <a:off x="4343400" y="4398264"/>
            <a:ext cx="6492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CE9F3"/>
                </a:solidFill>
              </a:rPr>
              <a:t>Awareness material should reflect real Pakistani delivery channels and wording.</a:t>
            </a:r>
            <a:endParaRPr lang="en-US" sz="1120" dirty="0"/>
          </a:p>
        </p:txBody>
      </p:sp>
      <p:sp>
        <p:nvSpPr>
          <p:cNvPr id="30" name="Shape 24"/>
          <p:cNvSpPr/>
          <p:nvPr/>
        </p:nvSpPr>
        <p:spPr>
          <a:xfrm>
            <a:off x="777240" y="5138928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102C40"/>
          </a:solidFill>
          <a:ln w="12700">
            <a:solidFill>
              <a:srgbClr val="244B6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60120" y="52760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A2030"/>
          </a:solidFill>
          <a:ln w="12700">
            <a:solidFill>
              <a:srgbClr val="2FB66D"/>
            </a:solidFill>
            <a:prstDash val="solid"/>
          </a:ln>
        </p:spPr>
      </p:sp>
      <p:pic>
        <p:nvPicPr>
          <p:cNvPr id="32" name="Image 4" descr="/mnt/data/week6_icons/chart-line_2FB66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5394960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600200" y="5266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F7FAFC"/>
                </a:solidFill>
              </a:rPr>
              <a:t>Measure real outcomes</a:t>
            </a:r>
            <a:endParaRPr lang="en-US" sz="1330" dirty="0"/>
          </a:p>
        </p:txBody>
      </p:sp>
      <p:sp>
        <p:nvSpPr>
          <p:cNvPr id="34" name="Text 27"/>
          <p:cNvSpPr/>
          <p:nvPr/>
        </p:nvSpPr>
        <p:spPr>
          <a:xfrm>
            <a:off x="4343400" y="5248656"/>
            <a:ext cx="6492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CE9F3"/>
                </a:solidFill>
              </a:rPr>
              <a:t>Track false positives, detection delay and financial loss prevented - not accuracy alone.</a:t>
            </a:r>
            <a:endParaRPr lang="en-US" sz="1120" dirty="0"/>
          </a:p>
        </p:txBody>
      </p:sp>
      <p:sp>
        <p:nvSpPr>
          <p:cNvPr id="35" name="Text 28"/>
          <p:cNvSpPr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F8798"/>
                </a:solidFill>
              </a:rPr>
              <a:t>Recommendations are a synthesis of the report, not a claim from one single paper.</a:t>
            </a:r>
            <a:endParaRPr lang="en-US" sz="710" dirty="0"/>
          </a:p>
        </p:txBody>
      </p:sp>
      <p:sp>
        <p:nvSpPr>
          <p:cNvPr id="36" name="Text 29"/>
          <p:cNvSpPr/>
          <p:nvPr/>
        </p:nvSpPr>
        <p:spPr>
          <a:xfrm>
            <a:off x="10195560" y="6565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F8798"/>
                </a:solidFill>
              </a:rPr>
              <a:t>Imtiaz Ali  |  Week 6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47104"/>
            <a:ext cx="117317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9509760" y="-640080"/>
            <a:ext cx="3291840" cy="329184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5374E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274320"/>
            <a:ext cx="2560320" cy="256032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E536A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RESEARCH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82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A8BA"/>
                </a:solidFill>
              </a:rPr>
              <a:t>NCERT Digital Forensics Internship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66928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1A8BA"/>
                </a:solidFill>
              </a:rPr>
              <a:t>Phishing and online financial fraud are socio-technical problems: technology, user behavior and institutional response all matter.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6583680" cy="3383280"/>
          </a:xfrm>
          <a:prstGeom prst="roundRect">
            <a:avLst>
              <a:gd name="adj" fmla="val 2162"/>
            </a:avLst>
          </a:prstGeom>
          <a:solidFill>
            <a:srgbClr val="0C2637"/>
          </a:solidFill>
          <a:ln w="12700">
            <a:solidFill>
              <a:srgbClr val="2250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1762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</a:rPr>
              <a:t>What the literature shows</a:t>
            </a:r>
            <a:endParaRPr lang="en-US" sz="1800" dirty="0"/>
          </a:p>
        </p:txBody>
      </p:sp>
      <p:pic>
        <p:nvPicPr>
          <p:cNvPr id="12" name="Image 0" descr="/mnt/data/week6_icons/circle-check_22C7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798064"/>
            <a:ext cx="164592" cy="1645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07592" y="2770632"/>
            <a:ext cx="550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9F3"/>
                </a:solidFill>
              </a:rPr>
              <a:t>Detection is improving through visual models, deep learning and multimodal approaches.</a:t>
            </a:r>
            <a:endParaRPr lang="en-US" sz="1250" dirty="0"/>
          </a:p>
        </p:txBody>
      </p:sp>
      <p:pic>
        <p:nvPicPr>
          <p:cNvPr id="14" name="Image 1" descr="/mnt/data/week6_icons/circle-check_2FB66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392424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07592" y="3364992"/>
            <a:ext cx="550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9F3"/>
                </a:solidFill>
              </a:rPr>
              <a:t>Financial-fraud systems increasingly combine anomaly detection with risk decisions.</a:t>
            </a:r>
            <a:endParaRPr lang="en-US" sz="1250" dirty="0"/>
          </a:p>
        </p:txBody>
      </p:sp>
      <p:pic>
        <p:nvPicPr>
          <p:cNvPr id="16" name="Image 2" descr="/mnt/data/week6_icons/circle-check_F4B94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986784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07592" y="3959352"/>
            <a:ext cx="550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9F3"/>
                </a:solidFill>
              </a:rPr>
              <a:t>Pakistan needs stronger local datasets, multilingual coverage and coordinated evidence sharing.</a:t>
            </a:r>
            <a:endParaRPr lang="en-US" sz="1250" dirty="0"/>
          </a:p>
        </p:txBody>
      </p:sp>
      <p:pic>
        <p:nvPicPr>
          <p:cNvPr id="18" name="Image 3" descr="/mnt/data/week6_icons/circle-check_4389F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581144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07592" y="4553712"/>
            <a:ext cx="550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9F3"/>
                </a:solidFill>
              </a:rPr>
              <a:t>Open-source tools are useful because they support repeatable, inspectable workflows.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726680" y="187452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0D2B3E"/>
          </a:solidFill>
          <a:ln w="12700">
            <a:solidFill>
              <a:srgbClr val="22C7C9"/>
            </a:solidFill>
            <a:prstDash val="solid"/>
          </a:ln>
        </p:spPr>
      </p:sp>
      <p:pic>
        <p:nvPicPr>
          <p:cNvPr id="21" name="Image 4" descr="/mnt/data/week6_icons/flag_2FB66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2286000"/>
            <a:ext cx="914400" cy="914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49640" y="34290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7C9"/>
                </a:solidFill>
              </a:rPr>
              <a:t>Final message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8183880" y="38862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9F3"/>
                </a:solidFill>
              </a:rPr>
              <a:t>The best next step is not only a better model. It is a locally tested system that connects detection, threat intelligence, user awareness and rapid response.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0195560" y="6565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F8798"/>
                </a:solidFill>
              </a:rPr>
              <a:t>Imtiaz Ali  |  Week 6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547104"/>
            <a:ext cx="11731752" cy="0"/>
          </a:xfrm>
          <a:prstGeom prst="line">
            <a:avLst/>
          </a:prstGeom>
          <a:noFill/>
          <a:ln w="12700">
            <a:solidFill>
              <a:srgbClr val="2146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9509760" y="-640080"/>
            <a:ext cx="3291840" cy="329184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5374E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9875520" y="-274320"/>
            <a:ext cx="2560320" cy="2560320"/>
          </a:xfrm>
          <a:prstGeom prst="arc">
            <a:avLst/>
          </a:prstGeom>
          <a:solidFill>
            <a:srgbClr val="081827">
              <a:alpha val="0"/>
            </a:srgbClr>
          </a:solidFill>
          <a:ln w="12700">
            <a:solidFill>
              <a:srgbClr val="1E536A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C7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RESEARCH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2440" y="182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1A8BA"/>
                </a:solidFill>
              </a:rPr>
              <a:t>NCERT Digital Forensics Internship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Selected references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66928" y="1325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1A8BA"/>
                </a:solidFill>
              </a:rPr>
              <a:t>IEEE style - all academic papers cited in the report are 2020 or later.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CE9F3"/>
                </a:solidFill>
              </a:rPr>
              <a:t>[1] M. Arshad et al., “A Systematic Literature Review on Phishing and Anti-Phishing Techniques,” arXiv:2104.01255, 2021.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77240" y="2075688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CE9F3"/>
                </a:solidFill>
              </a:rPr>
              <a:t>[2] M. Bitaab et al., “Scam Pandemic: How Attackers Exploit Public Fear through Phishing,” arXiv:2103.12843, 2021.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777240" y="2459736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CE9F3"/>
                </a:solidFill>
              </a:rPr>
              <a:t>[3] Y. Lin et al., “Phishpedia: A Hybrid Deep Learning Based Approach to Visually Identify Phishing Webpages,” USENIX Security, 2021.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777240" y="284378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CE9F3"/>
                </a:solidFill>
              </a:rPr>
              <a:t>[4] C. Catal et al., “Applications of deep learning for phishing detection: a systematic literature review,” Knowledge and Information Systems, 2022.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777240" y="3227832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CE9F3"/>
                </a:solidFill>
              </a:rPr>
              <a:t>[5] U. A. Butt et al., “Cloud-based email phishing attack using machine and deep learning algorithm,” Complex &amp; Intelligent Systems, 2022/2023.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777240" y="3611880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CE9F3"/>
                </a:solidFill>
              </a:rPr>
              <a:t>[6] A. Ali et al., “Financial Fraud Detection Based on Machine Learning: A Systematic Literature Review,” Applied Sciences, 2022.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777240" y="3995928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CE9F3"/>
                </a:solidFill>
              </a:rPr>
              <a:t>[7] W. Hilal et al., “Financial Fraud: A Review of Anomaly Detection Techniques and Recent Advances,” Expert Systems with Applications, 2022.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777240" y="4379976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CE9F3"/>
                </a:solidFill>
              </a:rPr>
              <a:t>[8] R. Liu et al., “Inferring Phishing Intention via Webpage Appearance and Dynamics,” USENIX Security, 2022.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777240" y="47640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CE9F3"/>
                </a:solidFill>
              </a:rPr>
              <a:t>[9] P. Vanini et al., “Online payment fraud: from anomaly detection to risk management,” Financial Innovation, 2023.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777240" y="5148072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CE9F3"/>
                </a:solidFill>
              </a:rPr>
              <a:t>[10] J. Lee et al., “Multimodal Large Language Models for Phishing Webpage Detection and Identification,” arXiv:2408.05941, 2024.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777240" y="5532120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CE9F3"/>
                </a:solidFill>
              </a:rPr>
              <a:t>[11] T. Abbas and K. Arif, “End-Users’ Perception of Cybercrimes Towards E-banking Adoption and Retention,” JISR-C, 2023.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777240" y="591616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1A8BA"/>
                </a:solidFill>
              </a:rPr>
              <a:t>[12]-[17] State Bank of Pakistan, PKCERT, MISP, YARA and Zeek documentation used for Pakistan/open-source practice.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183880" y="5797296"/>
            <a:ext cx="2971800" cy="438912"/>
          </a:xfrm>
          <a:prstGeom prst="roundRect">
            <a:avLst>
              <a:gd name="adj" fmla="val 16667"/>
            </a:avLst>
          </a:prstGeom>
          <a:solidFill>
            <a:srgbClr val="0D2B3E"/>
          </a:solidFill>
          <a:ln w="12700">
            <a:solidFill>
              <a:srgbClr val="22C7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59253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C7C9"/>
                </a:solidFill>
              </a:rPr>
              <a:t>Questions / Discussion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195560" y="6565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F8798"/>
                </a:solidFill>
              </a:rPr>
              <a:t>Imtiaz Ali  |  Week 6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NCERT Digital Forensics Internship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Investigating Phishing and Online Financial Fraud - Pakistan Focus</dc:title>
  <dc:subject>NCERT Week 6 Research Report - Phishing and Online Financial Fraud</dc:subject>
  <dc:creator>Imtiaz Ali</dc:creator>
  <cp:lastModifiedBy>Imtiaz Ali</cp:lastModifiedBy>
  <cp:revision>1</cp:revision>
  <dcterms:created xsi:type="dcterms:W3CDTF">2026-08-13T09:56:28Z</dcterms:created>
  <dcterms:modified xsi:type="dcterms:W3CDTF">2026-08-13T09:56:28Z</dcterms:modified>
</cp:coreProperties>
</file>