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48" d="100"/>
          <a:sy n="48" d="100"/>
        </p:scale>
        <p:origin x="134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79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644535" y="640811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PKCERT DIGITAL FORENSICS INTERNSHIP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0121" y="2544678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Digital Forensic Investigation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090121" y="3342144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Window User Activit</a:t>
            </a:r>
            <a:r>
              <a:rPr lang="en-US" sz="2200" i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y </a:t>
            </a:r>
            <a:r>
              <a:rPr lang="en-US" sz="2200" i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Analysis – </a:t>
            </a:r>
            <a:r>
              <a:rPr lang="en-US" sz="2200" b="1" i="1" dirty="0" smtClean="0">
                <a:solidFill>
                  <a:schemeClr val="accent6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– Task 1 </a:t>
            </a:r>
            <a:endParaRPr lang="en-US" sz="22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" y="4023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PKCERT Internship — Digital Forensics — Week 1, Task 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344363"/>
            <a:ext cx="900083" cy="105009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Artifacts, Not Just Collecting Evidence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analyzing an unknown machine, we designed our own incident scenario on a Windows 10 virtual machine. Knowing exactly what happened let us verify whether forensic artifacts could reliably reconstruct those events.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5943600" cy="18288"/>
          </a:xfrm>
          <a:prstGeom prst="rect">
            <a:avLst/>
          </a:prstGeom>
          <a:solidFill>
            <a:srgbClr val="EEF1F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5204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beyond evidence collection to understand how different Windows artifacts record user activity — and how investigators use them to answer real investigative questions.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49440" y="1600200"/>
            <a:ext cx="4663440" cy="4434840"/>
          </a:xfrm>
          <a:prstGeom prst="roundRect">
            <a:avLst>
              <a:gd name="adj" fmla="val 2062"/>
            </a:avLst>
          </a:prstGeom>
          <a:solidFill>
            <a:schemeClr val="accent6">
              <a:lumMod val="75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9" name="Text 7"/>
          <p:cNvSpPr/>
          <p:nvPr/>
        </p:nvSpPr>
        <p:spPr>
          <a:xfrm>
            <a:off x="7315200" y="1874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bg1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11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0" y="2423160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mage 0" descr="icons/deskto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8" y="2532888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909560" y="23957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7909560" y="2651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 VM (VMware)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315200" y="3319272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5" name="Image 1" descr="icons/clo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28" y="3429000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90956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7909560" y="35478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 of simulated user activity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315200" y="4215384"/>
            <a:ext cx="457200" cy="457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</p:sp>
      <p:pic>
        <p:nvPicPr>
          <p:cNvPr id="19" name="Image 2" descr="icons/usersecre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28" y="4325112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909560" y="4187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1" name="Text 16"/>
          <p:cNvSpPr/>
          <p:nvPr/>
        </p:nvSpPr>
        <p:spPr>
          <a:xfrm>
            <a:off x="7909560" y="444398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— Finance Department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315200" y="5111496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3" name="Image 3" descr="icons/diagram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4928" y="5221224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909560" y="50840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5" name="Text 19"/>
          <p:cNvSpPr/>
          <p:nvPr/>
        </p:nvSpPr>
        <p:spPr>
          <a:xfrm>
            <a:off x="7909560" y="53400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independent Windows sources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PKCERT Internship — Digital Forensics — Week 1, Task 1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Insider-Threat Simulation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91840" cy="4480560"/>
          </a:xfrm>
          <a:prstGeom prst="roundRect">
            <a:avLst>
              <a:gd name="adj" fmla="val 2778"/>
            </a:avLst>
          </a:prstGeom>
          <a:solidFill>
            <a:srgbClr val="EEF1FB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1874520"/>
            <a:ext cx="1188720" cy="118872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6" name="Image 0" descr="icons/usersecret_FFFFFF.png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47672" y="222199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John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3566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Department Employee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14400" y="3977640"/>
            <a:ext cx="25603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1605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his last working day approaching, John — according to our constructed scenario — set out to steal confidential company documents before leaving the organization.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20624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Activities (Over 2 Days)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206240" y="2148840"/>
            <a:ext cx="3520440" cy="594360"/>
          </a:xfrm>
          <a:prstGeom prst="roundRect">
            <a:avLst>
              <a:gd name="adj" fmla="val 9231"/>
            </a:avLst>
          </a:prstGeom>
          <a:solidFill>
            <a:srgbClr val="EEF1FB"/>
          </a:solidFill>
          <a:ln/>
        </p:spPr>
      </p:sp>
      <p:sp>
        <p:nvSpPr>
          <p:cNvPr id="13" name="Shape 10"/>
          <p:cNvSpPr/>
          <p:nvPr/>
        </p:nvSpPr>
        <p:spPr>
          <a:xfrm>
            <a:off x="4370832" y="2304288"/>
            <a:ext cx="292608" cy="29260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4" name="Image 1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368296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54880" y="214884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 company folders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46720" y="2148840"/>
            <a:ext cx="3520440" cy="594360"/>
          </a:xfrm>
          <a:prstGeom prst="roundRect">
            <a:avLst>
              <a:gd name="adj" fmla="val 9231"/>
            </a:avLst>
          </a:prstGeom>
          <a:solidFill>
            <a:srgbClr val="EEF1FB"/>
          </a:solidFill>
          <a:ln/>
        </p:spPr>
      </p:sp>
      <p:sp>
        <p:nvSpPr>
          <p:cNvPr id="17" name="Shape 13"/>
          <p:cNvSpPr/>
          <p:nvPr/>
        </p:nvSpPr>
        <p:spPr>
          <a:xfrm>
            <a:off x="8211312" y="2304288"/>
            <a:ext cx="292608" cy="29260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8" name="Image 2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2368296"/>
            <a:ext cx="164592" cy="1645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95360" y="214884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confidential files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206240" y="2926080"/>
            <a:ext cx="3520440" cy="594360"/>
          </a:xfrm>
          <a:prstGeom prst="roundRect">
            <a:avLst>
              <a:gd name="adj" fmla="val 9231"/>
            </a:avLst>
          </a:prstGeom>
          <a:solidFill>
            <a:srgbClr val="EEF1FB"/>
          </a:solidFill>
          <a:ln/>
        </p:spPr>
      </p:sp>
      <p:sp>
        <p:nvSpPr>
          <p:cNvPr id="21" name="Shape 16"/>
          <p:cNvSpPr/>
          <p:nvPr/>
        </p:nvSpPr>
        <p:spPr>
          <a:xfrm>
            <a:off x="4370832" y="3081528"/>
            <a:ext cx="292608" cy="29260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2" name="Image 3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145536"/>
            <a:ext cx="164592" cy="16459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54880" y="29260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office applications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8046720" y="2926080"/>
            <a:ext cx="3520440" cy="594360"/>
          </a:xfrm>
          <a:prstGeom prst="roundRect">
            <a:avLst>
              <a:gd name="adj" fmla="val 9231"/>
            </a:avLst>
          </a:prstGeom>
          <a:solidFill>
            <a:srgbClr val="EEF1FB"/>
          </a:solidFill>
          <a:ln/>
        </p:spPr>
      </p:sp>
      <p:sp>
        <p:nvSpPr>
          <p:cNvPr id="25" name="Shape 19"/>
          <p:cNvSpPr/>
          <p:nvPr/>
        </p:nvSpPr>
        <p:spPr>
          <a:xfrm>
            <a:off x="8211312" y="3081528"/>
            <a:ext cx="292608" cy="29260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6" name="Image 4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3145536"/>
            <a:ext cx="164592" cy="16459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595360" y="29260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 the internet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206240" y="3703320"/>
            <a:ext cx="3520440" cy="594360"/>
          </a:xfrm>
          <a:prstGeom prst="roundRect">
            <a:avLst>
              <a:gd name="adj" fmla="val 9231"/>
            </a:avLst>
          </a:prstGeom>
          <a:solidFill>
            <a:srgbClr val="EEF1FB"/>
          </a:solidFill>
          <a:ln/>
        </p:spPr>
      </p:sp>
      <p:sp>
        <p:nvSpPr>
          <p:cNvPr id="29" name="Shape 22"/>
          <p:cNvSpPr/>
          <p:nvPr/>
        </p:nvSpPr>
        <p:spPr>
          <a:xfrm>
            <a:off x="4370832" y="3858768"/>
            <a:ext cx="292608" cy="29260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30" name="Image 5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922776"/>
            <a:ext cx="164592" cy="16459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754880" y="370332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 USB device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8046720" y="3703320"/>
            <a:ext cx="3520440" cy="594360"/>
          </a:xfrm>
          <a:prstGeom prst="roundRect">
            <a:avLst>
              <a:gd name="adj" fmla="val 9231"/>
            </a:avLst>
          </a:prstGeom>
          <a:solidFill>
            <a:srgbClr val="EEF1FB"/>
          </a:solidFill>
          <a:ln/>
        </p:spPr>
      </p:sp>
      <p:sp>
        <p:nvSpPr>
          <p:cNvPr id="33" name="Shape 25"/>
          <p:cNvSpPr/>
          <p:nvPr/>
        </p:nvSpPr>
        <p:spPr>
          <a:xfrm>
            <a:off x="8211312" y="3858768"/>
            <a:ext cx="292608" cy="29260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34" name="Image 6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3922776"/>
            <a:ext cx="164592" cy="16459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595360" y="370332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Copying files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4206240" y="4480560"/>
            <a:ext cx="3520440" cy="594360"/>
          </a:xfrm>
          <a:prstGeom prst="roundRect">
            <a:avLst>
              <a:gd name="adj" fmla="val 9231"/>
            </a:avLst>
          </a:prstGeom>
          <a:solidFill>
            <a:srgbClr val="EEF1FB"/>
          </a:solidFill>
          <a:ln/>
        </p:spPr>
      </p:sp>
      <p:sp>
        <p:nvSpPr>
          <p:cNvPr id="37" name="Shape 28"/>
          <p:cNvSpPr/>
          <p:nvPr/>
        </p:nvSpPr>
        <p:spPr>
          <a:xfrm>
            <a:off x="4370832" y="4636008"/>
            <a:ext cx="292608" cy="29260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38" name="Image 7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4700016"/>
            <a:ext cx="164592" cy="16459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754880" y="44805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files</a:t>
            </a:r>
            <a:endParaRPr lang="en-US" sz="1200" dirty="0"/>
          </a:p>
        </p:txBody>
      </p:sp>
      <p:sp>
        <p:nvSpPr>
          <p:cNvPr id="40" name="Shape 30"/>
          <p:cNvSpPr/>
          <p:nvPr/>
        </p:nvSpPr>
        <p:spPr>
          <a:xfrm>
            <a:off x="8046720" y="4480560"/>
            <a:ext cx="3520440" cy="594360"/>
          </a:xfrm>
          <a:prstGeom prst="roundRect">
            <a:avLst>
              <a:gd name="adj" fmla="val 9231"/>
            </a:avLst>
          </a:prstGeom>
          <a:solidFill>
            <a:srgbClr val="EEF1FB"/>
          </a:solidFill>
          <a:ln/>
        </p:spPr>
      </p:sp>
      <p:sp>
        <p:nvSpPr>
          <p:cNvPr id="41" name="Shape 31"/>
          <p:cNvSpPr/>
          <p:nvPr/>
        </p:nvSpPr>
        <p:spPr>
          <a:xfrm>
            <a:off x="8211312" y="4636008"/>
            <a:ext cx="292608" cy="29260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42" name="Image 8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700016"/>
            <a:ext cx="164592" cy="164592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8595360" y="44805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off the computer</a:t>
            </a:r>
            <a:endParaRPr lang="en-US" sz="1200" dirty="0"/>
          </a:p>
        </p:txBody>
      </p:sp>
      <p:sp>
        <p:nvSpPr>
          <p:cNvPr id="44" name="Text 33"/>
          <p:cNvSpPr/>
          <p:nvPr/>
        </p:nvSpPr>
        <p:spPr>
          <a:xfrm>
            <a:off x="4206240" y="544068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leave authentic traces inside Windows so the events could later be investigated purely from forensic evidence — without relying on memory.</a:t>
            </a:r>
            <a:endParaRPr lang="en-US" sz="1200" dirty="0"/>
          </a:p>
        </p:txBody>
      </p:sp>
      <p:sp>
        <p:nvSpPr>
          <p:cNvPr id="45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PKCERT Internship — Digital Forensics — Week 1, Task 1</a:t>
            </a:r>
            <a:endParaRPr lang="en-US" sz="900" dirty="0"/>
          </a:p>
        </p:txBody>
      </p:sp>
      <p:sp>
        <p:nvSpPr>
          <p:cNvPr id="46" name="Text 3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PRESERVATION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Forensic Imaging &amp; Integrity Verification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activity was complete, we treated the virtual machine as a real seized computer — following the same preservation steps used in genuine investigations.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EEF1F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56032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7" name="Image 0" descr="icons/database_FFFFFF.png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8408" y="27157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E9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3566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Imaging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40233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bit-for-bit forensic image of the VM disk using FTK Imager, preserving the system exactly as left.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069080" y="33832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89120" y="22860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EEF1FB"/>
          </a:solidFill>
          <a:ln/>
        </p:spPr>
      </p:sp>
      <p:sp>
        <p:nvSpPr>
          <p:cNvPr id="13" name="Shape 10"/>
          <p:cNvSpPr/>
          <p:nvPr/>
        </p:nvSpPr>
        <p:spPr>
          <a:xfrm>
            <a:off x="4663440" y="256032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4" name="Image 1" descr="icons/fingerprint_FFFFFF.png"/>
          <p:cNvPicPr>
            <a:picLocks noChangeAspect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18888" y="271576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E9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663440" y="3566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Calculation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663440" y="40233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cryptographic hash values to create a verifiable fingerprint of the evidence.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7909560" y="33832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8229600" y="22860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EEF1FB"/>
          </a:solidFill>
          <a:ln/>
        </p:spPr>
      </p:sp>
      <p:sp>
        <p:nvSpPr>
          <p:cNvPr id="20" name="Shape 16"/>
          <p:cNvSpPr/>
          <p:nvPr/>
        </p:nvSpPr>
        <p:spPr>
          <a:xfrm>
            <a:off x="8503920" y="256032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1" name="Image 2" descr="icons/shield_FFFFFF.png"/>
          <p:cNvPicPr>
            <a:picLocks noChangeAspect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659368" y="271576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0392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E9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503920" y="3566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Assurance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503920" y="40233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proves the evidence was not altered during analysis — a core forensic principle.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PKCERT Internship — Digital Forensics — Week 1, Task 1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THE INVESTIGATION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Switching From Author to Investigator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607040" cy="914400"/>
          </a:xfrm>
          <a:prstGeom prst="roundRect">
            <a:avLst>
              <a:gd name="adj" fmla="val 8000"/>
            </a:avLst>
          </a:prstGeom>
          <a:solidFill>
            <a:schemeClr val="accent6">
              <a:lumMod val="75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forensic image was loaded into Autopsy, we set aside what we already knew about the scenario and relied only on forensic evidence — exactly as an investigator would approach an unfamiliar case.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Questions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before touching a single artifact — to keep the analysis focused and evidence-driven.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5212080" cy="530352"/>
          </a:xfrm>
          <a:prstGeom prst="roundRect">
            <a:avLst>
              <a:gd name="adj" fmla="val 10345"/>
            </a:avLst>
          </a:prstGeom>
          <a:solidFill>
            <a:srgbClr val="EEF1FB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363931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6393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520440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used the computer?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3520440"/>
            <a:ext cx="5212080" cy="530352"/>
          </a:xfrm>
          <a:prstGeom prst="roundRect">
            <a:avLst>
              <a:gd name="adj" fmla="val 10345"/>
            </a:avLst>
          </a:prstGeom>
          <a:solidFill>
            <a:srgbClr val="EEF1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0" y="363931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6393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3520440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user was active during the incident?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78808"/>
            <a:ext cx="5212080" cy="530352"/>
          </a:xfrm>
          <a:prstGeom prst="roundRect">
            <a:avLst>
              <a:gd name="adj" fmla="val 10345"/>
            </a:avLst>
          </a:prstGeom>
          <a:solidFill>
            <a:srgbClr val="EEF1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429768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297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4178808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did the suspect log in / log out?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89320" y="4178808"/>
            <a:ext cx="5212080" cy="530352"/>
          </a:xfrm>
          <a:prstGeom prst="roundRect">
            <a:avLst>
              <a:gd name="adj" fmla="val 10345"/>
            </a:avLst>
          </a:prstGeom>
          <a:solidFill>
            <a:srgbClr val="EEF1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126480" y="429768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4297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4178808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programs were executed?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837176"/>
            <a:ext cx="5212080" cy="530352"/>
          </a:xfrm>
          <a:prstGeom prst="roundRect">
            <a:avLst>
              <a:gd name="adj" fmla="val 10345"/>
            </a:avLst>
          </a:prstGeom>
          <a:solidFill>
            <a:srgbClr val="EEF1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495604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956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4837176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documents were accessed?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89320" y="4837176"/>
            <a:ext cx="5212080" cy="530352"/>
          </a:xfrm>
          <a:prstGeom prst="roundRect">
            <a:avLst>
              <a:gd name="adj" fmla="val 10345"/>
            </a:avLst>
          </a:prstGeom>
          <a:solidFill>
            <a:srgbClr val="EEF1FB"/>
          </a:solidFill>
          <a:ln/>
        </p:spPr>
      </p:sp>
      <p:sp>
        <p:nvSpPr>
          <p:cNvPr id="29" name="Shape 27"/>
          <p:cNvSpPr/>
          <p:nvPr/>
        </p:nvSpPr>
        <p:spPr>
          <a:xfrm>
            <a:off x="6126480" y="495604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4956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37960" y="4837176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 USB device connected?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495544"/>
            <a:ext cx="5212080" cy="530352"/>
          </a:xfrm>
          <a:prstGeom prst="roundRect">
            <a:avLst>
              <a:gd name="adj" fmla="val 10345"/>
            </a:avLst>
          </a:prstGeom>
          <a:solidFill>
            <a:srgbClr val="EEF1FB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" y="561441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56144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97280" y="5495544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any files deleted?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89320" y="5495544"/>
            <a:ext cx="5212080" cy="530352"/>
          </a:xfrm>
          <a:prstGeom prst="roundRect">
            <a:avLst>
              <a:gd name="adj" fmla="val 10345"/>
            </a:avLst>
          </a:prstGeom>
          <a:solidFill>
            <a:srgbClr val="EEF1FB"/>
          </a:solidFill>
          <a:ln/>
        </p:spPr>
      </p:sp>
      <p:sp>
        <p:nvSpPr>
          <p:cNvPr id="37" name="Shape 35"/>
          <p:cNvSpPr/>
          <p:nvPr/>
        </p:nvSpPr>
        <p:spPr>
          <a:xfrm>
            <a:off x="6126480" y="561441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56144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37960" y="5495544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all evidence be connected into one timeline?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PKCERT Internship — Digital Forensics — Week 1, Task 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&amp;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Identifying the User &amp; Establishing the Time Window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434840"/>
          </a:xfrm>
          <a:prstGeom prst="roundRect">
            <a:avLst>
              <a:gd name="adj" fmla="val 2062"/>
            </a:avLst>
          </a:prstGeom>
          <a:solidFill>
            <a:srgbClr val="EEF1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6" name="Image 0" descr="icons/usersecr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116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20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Identifying the Users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user accounts were found on the system: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297180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9718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2971800"/>
            <a:ext cx="2194560" cy="502920"/>
          </a:xfrm>
          <a:prstGeom prst="roundRect">
            <a:avLst>
              <a:gd name="adj" fmla="val 10909"/>
            </a:avLst>
          </a:prstGeom>
          <a:solidFill>
            <a:schemeClr val="accent6">
              <a:lumMod val="75000"/>
            </a:schemeClr>
          </a:solidFill>
          <a:ln/>
        </p:spPr>
      </p:sp>
      <p:sp>
        <p:nvSpPr>
          <p:cNvPr id="12" name="Text 9"/>
          <p:cNvSpPr/>
          <p:nvPr/>
        </p:nvSpPr>
        <p:spPr>
          <a:xfrm>
            <a:off x="3246120" y="29718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(Suspect)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370332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 incident scenario identified John as the suspect, investigation focus remained on his activity only — preventing evidence from different users being mixed together.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8680" y="4846320"/>
            <a:ext cx="44805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4983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Source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52578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 enumeration (Autopsy)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852160" y="1600200"/>
            <a:ext cx="5303520" cy="4434840"/>
          </a:xfrm>
          <a:prstGeom prst="roundRect">
            <a:avLst>
              <a:gd name="adj" fmla="val 2062"/>
            </a:avLst>
          </a:prstGeom>
          <a:solidFill>
            <a:schemeClr val="accent6">
              <a:lumMod val="75000"/>
            </a:schemeClr>
          </a:solidFill>
          <a:ln/>
        </p:spPr>
      </p:sp>
      <p:sp>
        <p:nvSpPr>
          <p:cNvPr id="18" name="Shape 15"/>
          <p:cNvSpPr/>
          <p:nvPr/>
        </p:nvSpPr>
        <p:spPr>
          <a:xfrm>
            <a:off x="6172200" y="187452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9" name="Image 1" descr="icons/history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01168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903720" y="1920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Event Log Analysis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172200" y="26060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asking what John did, we first established when he was using the computer — via the Windows Security Event Log.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172200" y="3383280"/>
            <a:ext cx="4663440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/>
        </p:spPr>
      </p:sp>
      <p:sp>
        <p:nvSpPr>
          <p:cNvPr id="23" name="Text 19"/>
          <p:cNvSpPr/>
          <p:nvPr/>
        </p:nvSpPr>
        <p:spPr>
          <a:xfrm>
            <a:off x="6355080" y="34564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ID 4624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Text 20"/>
          <p:cNvSpPr/>
          <p:nvPr/>
        </p:nvSpPr>
        <p:spPr>
          <a:xfrm>
            <a:off x="6355080" y="371246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Logon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6355080" y="395935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Confirms John logged into Windows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172200" y="4389120"/>
            <a:ext cx="4663440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/>
        </p:spPr>
      </p:sp>
      <p:sp>
        <p:nvSpPr>
          <p:cNvPr id="27" name="Text 23"/>
          <p:cNvSpPr/>
          <p:nvPr/>
        </p:nvSpPr>
        <p:spPr>
          <a:xfrm>
            <a:off x="6355080" y="44622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ID 4647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8" name="Text 24"/>
          <p:cNvSpPr/>
          <p:nvPr/>
        </p:nvSpPr>
        <p:spPr>
          <a:xfrm>
            <a:off x="6355080" y="47183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User Initiated Logoff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6355080" y="49651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Confirms logoff under the same Logon ID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6172200" y="5486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established the exact time window for the entire investigation.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31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PKCERT Internship — Digital Forensics — Week 1, Task 1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Prefetch Analysis — What Programs Ran?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user session identified, Windows Prefetch files were examined to determine which applications John executed.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EEF1F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514600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7" name="Image 0" descr="icons/deskto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61518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331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60520" y="233172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EEF1FB"/>
          </a:solidFill>
          <a:ln/>
        </p:spPr>
      </p:sp>
      <p:sp>
        <p:nvSpPr>
          <p:cNvPr id="10" name="Shape 7"/>
          <p:cNvSpPr/>
          <p:nvPr/>
        </p:nvSpPr>
        <p:spPr>
          <a:xfrm>
            <a:off x="4343400" y="2514600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mage 1" descr="icons/deskto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261518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2331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Prompt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772400" y="233172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EEF1FB"/>
          </a:solidFill>
          <a:ln/>
        </p:spPr>
      </p:sp>
      <p:sp>
        <p:nvSpPr>
          <p:cNvPr id="14" name="Shape 10"/>
          <p:cNvSpPr/>
          <p:nvPr/>
        </p:nvSpPr>
        <p:spPr>
          <a:xfrm>
            <a:off x="7955280" y="2514600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5" name="Image 2" descr="icons/deskto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864" y="261518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49640" y="2331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338328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EEF1FB"/>
          </a:solidFill>
          <a:ln/>
        </p:spPr>
      </p:sp>
      <p:sp>
        <p:nvSpPr>
          <p:cNvPr id="18" name="Shape 13"/>
          <p:cNvSpPr/>
          <p:nvPr/>
        </p:nvSpPr>
        <p:spPr>
          <a:xfrm>
            <a:off x="731520" y="3566160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9" name="Image 3" descr="icons/deskto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666744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33832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Command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160520" y="338328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EEF1FB"/>
          </a:solidFill>
          <a:ln/>
        </p:spPr>
      </p:sp>
      <p:sp>
        <p:nvSpPr>
          <p:cNvPr id="22" name="Shape 16"/>
          <p:cNvSpPr/>
          <p:nvPr/>
        </p:nvSpPr>
        <p:spPr>
          <a:xfrm>
            <a:off x="4343400" y="3566160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3" name="Image 4" descr="icons/deskto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3666744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37760" y="33832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Whoami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7772400" y="338328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EEF1FB"/>
          </a:solidFill>
          <a:ln/>
        </p:spPr>
      </p:sp>
      <p:sp>
        <p:nvSpPr>
          <p:cNvPr id="26" name="Shape 19"/>
          <p:cNvSpPr/>
          <p:nvPr/>
        </p:nvSpPr>
        <p:spPr>
          <a:xfrm>
            <a:off x="7955280" y="3566160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7" name="Image 5" descr="icons/deskto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864" y="3666744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549640" y="33832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WPS Office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548640" y="443484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EEF1FB"/>
          </a:solidFill>
          <a:ln/>
        </p:spPr>
      </p:sp>
      <p:sp>
        <p:nvSpPr>
          <p:cNvPr id="30" name="Shape 22"/>
          <p:cNvSpPr/>
          <p:nvPr/>
        </p:nvSpPr>
        <p:spPr>
          <a:xfrm>
            <a:off x="731520" y="4617720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31" name="Image 6" descr="icons/deskto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4718304"/>
            <a:ext cx="256032" cy="25603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325880" y="44348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Edge</a:t>
            </a:r>
            <a:endParaRPr lang="en-US" sz="1300" dirty="0"/>
          </a:p>
        </p:txBody>
      </p:sp>
      <p:sp>
        <p:nvSpPr>
          <p:cNvPr id="33" name="Shape 24"/>
          <p:cNvSpPr/>
          <p:nvPr/>
        </p:nvSpPr>
        <p:spPr>
          <a:xfrm>
            <a:off x="4160520" y="443484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EEF1FB"/>
          </a:solidFill>
          <a:ln/>
        </p:spPr>
      </p:sp>
      <p:sp>
        <p:nvSpPr>
          <p:cNvPr id="34" name="Shape 25"/>
          <p:cNvSpPr/>
          <p:nvPr/>
        </p:nvSpPr>
        <p:spPr>
          <a:xfrm>
            <a:off x="4343400" y="4617720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35" name="Image 7" descr="icons/deskto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4718304"/>
            <a:ext cx="256032" cy="25603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4937760" y="44348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Components</a:t>
            </a:r>
            <a:endParaRPr lang="en-US" sz="1300" dirty="0"/>
          </a:p>
        </p:txBody>
      </p:sp>
      <p:sp>
        <p:nvSpPr>
          <p:cNvPr id="37" name="Shape 27"/>
          <p:cNvSpPr/>
          <p:nvPr/>
        </p:nvSpPr>
        <p:spPr>
          <a:xfrm>
            <a:off x="7772400" y="443484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EEF1FB"/>
          </a:solidFill>
          <a:ln/>
        </p:spPr>
      </p:sp>
      <p:sp>
        <p:nvSpPr>
          <p:cNvPr id="38" name="Shape 28"/>
          <p:cNvSpPr/>
          <p:nvPr/>
        </p:nvSpPr>
        <p:spPr>
          <a:xfrm>
            <a:off x="7955280" y="4617720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39" name="Image 8" descr="icons/deskto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864" y="4718304"/>
            <a:ext cx="256032" cy="256032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8549640" y="44348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Utilities</a:t>
            </a:r>
            <a:endParaRPr lang="en-US" sz="1300" dirty="0"/>
          </a:p>
        </p:txBody>
      </p:sp>
      <p:sp>
        <p:nvSpPr>
          <p:cNvPr id="41" name="Shape 30"/>
          <p:cNvSpPr/>
          <p:nvPr/>
        </p:nvSpPr>
        <p:spPr>
          <a:xfrm>
            <a:off x="548640" y="5623560"/>
            <a:ext cx="10607040" cy="594360"/>
          </a:xfrm>
          <a:prstGeom prst="roundRect">
            <a:avLst>
              <a:gd name="adj" fmla="val 9231"/>
            </a:avLst>
          </a:prstGeom>
          <a:solidFill>
            <a:schemeClr val="accent6">
              <a:lumMod val="75000"/>
            </a:schemeClr>
          </a:solidFill>
          <a:ln/>
        </p:spPr>
      </p:sp>
      <p:sp>
        <p:nvSpPr>
          <p:cNvPr id="42" name="Text 31"/>
          <p:cNvSpPr/>
          <p:nvPr/>
        </p:nvSpPr>
        <p:spPr>
          <a:xfrm>
            <a:off x="822960" y="56235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application execution — corroborating the activity timeline established from event logs.</a:t>
            </a:r>
            <a:endParaRPr lang="en-US" sz="1200" dirty="0"/>
          </a:p>
        </p:txBody>
      </p:sp>
      <p:sp>
        <p:nvSpPr>
          <p:cNvPr id="43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PKCERT Internship — Digital Forensics — Week 1, Task 1</a:t>
            </a:r>
            <a:endParaRPr lang="en-US" sz="900" dirty="0"/>
          </a:p>
        </p:txBody>
      </p:sp>
      <p:sp>
        <p:nvSpPr>
          <p:cNvPr id="44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Documents — What Files Were Opened?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which applications ran isn't enough — investigators must know what files were opened. The Recent Documents artifact contains .lnk shortcut files pointing to recently accessed items.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EEF1FB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478024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7" name="Image 0" descr="icons/file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8775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33172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Budget.xlsx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60520" y="2331720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EEF1FB"/>
          </a:solidFill>
          <a:ln/>
        </p:spPr>
      </p:sp>
      <p:sp>
        <p:nvSpPr>
          <p:cNvPr id="10" name="Shape 7"/>
          <p:cNvSpPr/>
          <p:nvPr/>
        </p:nvSpPr>
        <p:spPr>
          <a:xfrm>
            <a:off x="4325112" y="2478024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mage 1" descr="icons/file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58775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233172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Salary.xlsx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772400" y="2331720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EEF1FB"/>
          </a:solidFill>
          <a:ln/>
        </p:spPr>
      </p:sp>
      <p:sp>
        <p:nvSpPr>
          <p:cNvPr id="14" name="Shape 10"/>
          <p:cNvSpPr/>
          <p:nvPr/>
        </p:nvSpPr>
        <p:spPr>
          <a:xfrm>
            <a:off x="7936992" y="2478024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5" name="Image 2" descr="icons/folder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587752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49640" y="233172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3291840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EEF1FB"/>
          </a:solidFill>
          <a:ln/>
        </p:spPr>
      </p:sp>
      <p:sp>
        <p:nvSpPr>
          <p:cNvPr id="18" name="Shape 13"/>
          <p:cNvSpPr/>
          <p:nvPr/>
        </p:nvSpPr>
        <p:spPr>
          <a:xfrm>
            <a:off x="713232" y="3438144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9" name="Image 3" descr="icons/folder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547872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329184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Folder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160520" y="3291840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EEF1FB"/>
          </a:solidFill>
          <a:ln/>
        </p:spPr>
      </p:sp>
      <p:sp>
        <p:nvSpPr>
          <p:cNvPr id="22" name="Shape 16"/>
          <p:cNvSpPr/>
          <p:nvPr/>
        </p:nvSpPr>
        <p:spPr>
          <a:xfrm>
            <a:off x="4325112" y="3438144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3" name="Image 4" descr="icons/folder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547872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37760" y="329184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Folder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7772400" y="3291840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EEF1FB"/>
          </a:solidFill>
          <a:ln/>
        </p:spPr>
      </p:sp>
      <p:sp>
        <p:nvSpPr>
          <p:cNvPr id="26" name="Shape 19"/>
          <p:cNvSpPr/>
          <p:nvPr/>
        </p:nvSpPr>
        <p:spPr>
          <a:xfrm>
            <a:off x="7936992" y="3438144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7" name="Image 5" descr="icons/folder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3547872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549640" y="329184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Folder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548640" y="4251960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EEF1FB"/>
          </a:solidFill>
          <a:ln/>
        </p:spPr>
      </p:sp>
      <p:sp>
        <p:nvSpPr>
          <p:cNvPr id="30" name="Shape 22"/>
          <p:cNvSpPr/>
          <p:nvPr/>
        </p:nvSpPr>
        <p:spPr>
          <a:xfrm>
            <a:off x="713232" y="4398264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31" name="Image 6" descr="icons/shield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507992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325880" y="425196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Documents</a:t>
            </a:r>
            <a:endParaRPr lang="en-US" sz="1300" dirty="0"/>
          </a:p>
        </p:txBody>
      </p:sp>
      <p:sp>
        <p:nvSpPr>
          <p:cNvPr id="33" name="Shape 24"/>
          <p:cNvSpPr/>
          <p:nvPr/>
        </p:nvSpPr>
        <p:spPr>
          <a:xfrm>
            <a:off x="4160520" y="4251960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EEF1FB"/>
          </a:solidFill>
          <a:ln/>
        </p:spPr>
      </p:sp>
      <p:sp>
        <p:nvSpPr>
          <p:cNvPr id="34" name="Shape 25"/>
          <p:cNvSpPr/>
          <p:nvPr/>
        </p:nvSpPr>
        <p:spPr>
          <a:xfrm>
            <a:off x="4325112" y="4398264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35" name="Image 7" descr="icons/usb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4507992"/>
            <a:ext cx="237744" cy="23774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4937760" y="425196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Drive</a:t>
            </a:r>
            <a:endParaRPr lang="en-US" sz="1300" dirty="0"/>
          </a:p>
        </p:txBody>
      </p:sp>
      <p:sp>
        <p:nvSpPr>
          <p:cNvPr id="37" name="Shape 27"/>
          <p:cNvSpPr/>
          <p:nvPr/>
        </p:nvSpPr>
        <p:spPr>
          <a:xfrm>
            <a:off x="7772400" y="4251960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EEF1FB"/>
          </a:solidFill>
          <a:ln/>
        </p:spPr>
      </p:sp>
      <p:sp>
        <p:nvSpPr>
          <p:cNvPr id="38" name="Shape 28"/>
          <p:cNvSpPr/>
          <p:nvPr/>
        </p:nvSpPr>
        <p:spPr>
          <a:xfrm>
            <a:off x="7936992" y="4398264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39" name="Image 8" descr="icons/folder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4507992"/>
            <a:ext cx="237744" cy="237744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8549640" y="425196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Folder</a:t>
            </a:r>
            <a:endParaRPr lang="en-US" sz="1300" dirty="0"/>
          </a:p>
        </p:txBody>
      </p:sp>
      <p:sp>
        <p:nvSpPr>
          <p:cNvPr id="41" name="Text 30"/>
          <p:cNvSpPr/>
          <p:nvPr/>
        </p:nvSpPr>
        <p:spPr>
          <a:xfrm>
            <a:off x="548640" y="598932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John accessed sensitive company information — including finance and payroll data — during the investigation period.</a:t>
            </a:r>
            <a:endParaRPr lang="en-US" sz="1200" dirty="0"/>
          </a:p>
        </p:txBody>
      </p:sp>
      <p:sp>
        <p:nvSpPr>
          <p:cNvPr id="42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PKCERT Internship — Digital Forensics — Week 1, Task 1</a:t>
            </a:r>
            <a:endParaRPr lang="en-US" sz="900" dirty="0"/>
          </a:p>
        </p:txBody>
      </p:sp>
      <p:sp>
        <p:nvSpPr>
          <p:cNvPr id="43" name="Text 3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Recycle Bin Analysis — Was Evidence Deleted?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 we 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investigated</a:t>
            </a:r>
            <a:r>
              <a:rPr 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whether John attempted to remove evidence of his activity after working with company files.</a:t>
            </a:r>
            <a:endParaRPr lang="en-US" sz="135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1053718" y="2695733"/>
            <a:ext cx="777240" cy="77724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sp>
      <p:pic>
        <p:nvPicPr>
          <p:cNvPr id="7" name="Image 0" descr="icons/trash_FFFFFF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61872" y="289864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743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892808" y="29489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Budget.xlsx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914400" y="3794760"/>
            <a:ext cx="5029200" cy="0"/>
          </a:xfrm>
          <a:prstGeom prst="line">
            <a:avLst/>
          </a:prstGeom>
          <a:noFill/>
          <a:ln w="12700">
            <a:solidFill>
              <a:srgbClr val="3A4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39776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Recycle Bin artifact recorded both the deletion time and the original file location of the deleted item.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48463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This shows the suspect attempted to remove evidence after working with sensitive company files — a critical behavioral indicator in the investigation.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0" y="2331720"/>
            <a:ext cx="4480560" cy="3566160"/>
          </a:xfrm>
          <a:prstGeom prst="roundRect">
            <a:avLst>
              <a:gd name="adj" fmla="val 3077"/>
            </a:avLst>
          </a:prstGeom>
          <a:solidFill>
            <a:schemeClr val="accent6">
              <a:lumMod val="75000"/>
            </a:schemeClr>
          </a:solidFill>
          <a:ln w="19050">
            <a:solidFill>
              <a:schemeClr val="bg1"/>
            </a:solidFill>
          </a:ln>
        </p:spPr>
      </p:sp>
      <p:sp>
        <p:nvSpPr>
          <p:cNvPr id="14" name="Text 11"/>
          <p:cNvSpPr/>
          <p:nvPr/>
        </p:nvSpPr>
        <p:spPr>
          <a:xfrm>
            <a:off x="6949440" y="2606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Recycle Bin Records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949440" y="3108960"/>
            <a:ext cx="201168" cy="201168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6" name="Text 13"/>
          <p:cNvSpPr/>
          <p:nvPr/>
        </p:nvSpPr>
        <p:spPr>
          <a:xfrm>
            <a:off x="7269480" y="3017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file name &amp; extension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949440" y="3675888"/>
            <a:ext cx="201168" cy="201168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8" name="Text 15"/>
          <p:cNvSpPr/>
          <p:nvPr/>
        </p:nvSpPr>
        <p:spPr>
          <a:xfrm>
            <a:off x="7269480" y="3584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file path before deletion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949440" y="4242816"/>
            <a:ext cx="201168" cy="201168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0" name="Text 17"/>
          <p:cNvSpPr/>
          <p:nvPr/>
        </p:nvSpPr>
        <p:spPr>
          <a:xfrm>
            <a:off x="7269480" y="415137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date and time of deletion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949440" y="4809744"/>
            <a:ext cx="201168" cy="201168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2" name="Text 19"/>
          <p:cNvSpPr/>
          <p:nvPr/>
        </p:nvSpPr>
        <p:spPr>
          <a:xfrm>
            <a:off x="7269480" y="471830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item was later purged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PKCERT Internship — Digital Forensics — Week 1, Task 1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USB Analysis — Removable Media Evidence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 scenario involved copying files to removable media, the SYSTEM registry hive was examined for USB connection history.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6400800" cy="1965960"/>
          </a:xfrm>
          <a:prstGeom prst="roundRect">
            <a:avLst>
              <a:gd name="adj" fmla="val 4651"/>
            </a:avLst>
          </a:prstGeom>
          <a:solidFill>
            <a:srgbClr val="EEF1F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6032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7" name="Image 0" descr="icons/usb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72491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560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Finding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691640" y="2834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USB Storage Device — PNY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691640" y="33375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registry confirmed a previously connected external storage device.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4434840"/>
            <a:ext cx="6400800" cy="1600200"/>
          </a:xfrm>
          <a:prstGeom prst="roundRect">
            <a:avLst>
              <a:gd name="adj" fmla="val 5714"/>
            </a:avLst>
          </a:prstGeom>
          <a:solidFill>
            <a:schemeClr val="accent6">
              <a:lumMod val="75000"/>
            </a:schemeClr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6177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Cross-Artifact Correlation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822960" y="4983480"/>
            <a:ext cx="5852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Recent Documents and the established scenario timeline, this supports the strong possibility that company files were copied to removable media before John's departure.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315200" y="2286000"/>
            <a:ext cx="3840480" cy="3749040"/>
          </a:xfrm>
          <a:prstGeom prst="roundRect">
            <a:avLst>
              <a:gd name="adj" fmla="val 2439"/>
            </a:avLst>
          </a:prstGeom>
          <a:solidFill>
            <a:srgbClr val="EEF1FB"/>
          </a:solidFill>
          <a:ln/>
        </p:spPr>
      </p:sp>
      <p:sp>
        <p:nvSpPr>
          <p:cNvPr id="15" name="Shape 12"/>
          <p:cNvSpPr/>
          <p:nvPr/>
        </p:nvSpPr>
        <p:spPr>
          <a:xfrm>
            <a:off x="8686800" y="2743200"/>
            <a:ext cx="1097280" cy="10972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6" name="Image 1" descr="icons/usb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3688" y="2990088"/>
            <a:ext cx="603504" cy="6035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589520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Removable Media Vector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7589520" y="44348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recurring exfiltration channel in insider-threat cases — always check registry USBSTOR keys.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PKCERT Internship — Digital Forensics — Week 1, Task 1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Artifact Alone Cannot Tell the Story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strength of digital forensics comes from correlating multiple independent sources into one consistent narrative.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011680" cy="2651760"/>
          </a:xfrm>
          <a:prstGeom prst="roundRect">
            <a:avLst>
              <a:gd name="adj" fmla="val 4091"/>
            </a:avLst>
          </a:prstGeom>
          <a:solidFill>
            <a:srgbClr val="EEF1FB"/>
          </a:solidFill>
          <a:ln/>
        </p:spPr>
      </p:sp>
      <p:sp>
        <p:nvSpPr>
          <p:cNvPr id="6" name="Shape 4"/>
          <p:cNvSpPr/>
          <p:nvPr/>
        </p:nvSpPr>
        <p:spPr>
          <a:xfrm>
            <a:off x="1303020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icons/histor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4" y="255117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8368" y="3456432"/>
            <a:ext cx="17922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John logged into Windows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560320" y="3108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880360" y="2194560"/>
            <a:ext cx="2011680" cy="2651760"/>
          </a:xfrm>
          <a:prstGeom prst="roundRect">
            <a:avLst>
              <a:gd name="adj" fmla="val 4091"/>
            </a:avLst>
          </a:prstGeom>
          <a:solidFill>
            <a:srgbClr val="EEF1FB"/>
          </a:solidFill>
          <a:ln/>
        </p:spPr>
      </p:sp>
      <p:sp>
        <p:nvSpPr>
          <p:cNvPr id="12" name="Shape 9"/>
          <p:cNvSpPr/>
          <p:nvPr/>
        </p:nvSpPr>
        <p:spPr>
          <a:xfrm>
            <a:off x="3634740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icons/desktop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255117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7180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Prefetch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990088" y="3456432"/>
            <a:ext cx="17922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applications were executed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892040" y="3108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5212080" y="2194560"/>
            <a:ext cx="2011680" cy="2651760"/>
          </a:xfrm>
          <a:prstGeom prst="roundRect">
            <a:avLst>
              <a:gd name="adj" fmla="val 4091"/>
            </a:avLst>
          </a:prstGeom>
          <a:solidFill>
            <a:srgbClr val="EEF1FB"/>
          </a:solidFill>
          <a:ln/>
        </p:spPr>
      </p:sp>
      <p:sp>
        <p:nvSpPr>
          <p:cNvPr id="18" name="Shape 14"/>
          <p:cNvSpPr/>
          <p:nvPr/>
        </p:nvSpPr>
        <p:spPr>
          <a:xfrm>
            <a:off x="5966460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icons/fold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904" y="2551176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0352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Documents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321808" y="3456432"/>
            <a:ext cx="17922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files were opened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7223760" y="3108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7543800" y="2194560"/>
            <a:ext cx="2011680" cy="2651760"/>
          </a:xfrm>
          <a:prstGeom prst="roundRect">
            <a:avLst>
              <a:gd name="adj" fmla="val 4091"/>
            </a:avLst>
          </a:prstGeom>
          <a:solidFill>
            <a:srgbClr val="EEF1FB"/>
          </a:solidFill>
          <a:ln/>
        </p:spPr>
      </p:sp>
      <p:sp>
        <p:nvSpPr>
          <p:cNvPr id="24" name="Shape 19"/>
          <p:cNvSpPr/>
          <p:nvPr/>
        </p:nvSpPr>
        <p:spPr>
          <a:xfrm>
            <a:off x="8298180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icons/usb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2551176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3524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653528" y="3456432"/>
            <a:ext cx="17922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device usage confirmed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9555480" y="3108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29" name="Shape 23"/>
          <p:cNvSpPr/>
          <p:nvPr/>
        </p:nvSpPr>
        <p:spPr>
          <a:xfrm>
            <a:off x="9875520" y="2194560"/>
            <a:ext cx="2011680" cy="2651760"/>
          </a:xfrm>
          <a:prstGeom prst="roundRect">
            <a:avLst>
              <a:gd name="adj" fmla="val 4091"/>
            </a:avLst>
          </a:prstGeom>
          <a:solidFill>
            <a:srgbClr val="EEF1FB"/>
          </a:solidFill>
          <a:ln/>
        </p:spPr>
      </p:sp>
      <p:sp>
        <p:nvSpPr>
          <p:cNvPr id="30" name="Shape 24"/>
          <p:cNvSpPr/>
          <p:nvPr/>
        </p:nvSpPr>
        <p:spPr>
          <a:xfrm>
            <a:off x="10629900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4" descr="icons/trash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3344" y="2551176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96696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 Bin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9985248" y="3456432"/>
            <a:ext cx="17922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evidence recovered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548640" y="5120640"/>
            <a:ext cx="1060704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pic>
        <p:nvPicPr>
          <p:cNvPr id="35" name="Image 5" descr="icons/check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5440680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417320" y="5120640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combined, these five independent sources produced one consistent timeline — substantially increasing confidence in the investigative findings.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PKCERT Internship — Digital Forensics — Week 1, Task 1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TIMELINE RECONSTRUCTION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Reconstructing the Sequence of Events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All recovered evidence organized chronologically into a single incident timeline.</a:t>
            </a:r>
            <a:endParaRPr lang="en-US" sz="1600" b="1" dirty="0"/>
          </a:p>
        </p:txBody>
      </p:sp>
      <p:sp>
        <p:nvSpPr>
          <p:cNvPr id="5" name="Shape 3"/>
          <p:cNvSpPr/>
          <p:nvPr/>
        </p:nvSpPr>
        <p:spPr>
          <a:xfrm>
            <a:off x="1417320" y="3931920"/>
            <a:ext cx="9326880" cy="0"/>
          </a:xfrm>
          <a:prstGeom prst="line">
            <a:avLst/>
          </a:prstGeom>
          <a:noFill/>
          <a:ln w="25400">
            <a:solidFill>
              <a:srgbClr val="3A4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16736" y="3831336"/>
            <a:ext cx="201168" cy="201168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384962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1417320" y="3429000"/>
            <a:ext cx="0" cy="502920"/>
          </a:xfrm>
          <a:prstGeom prst="line">
            <a:avLst/>
          </a:prstGeom>
          <a:noFill/>
          <a:ln w="12700">
            <a:solidFill>
              <a:srgbClr val="3A4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146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logged into Windows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49147" y="3831336"/>
            <a:ext cx="201168" cy="201168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12571" y="384962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9731" y="4032504"/>
            <a:ext cx="0" cy="502920"/>
          </a:xfrm>
          <a:prstGeom prst="line">
            <a:avLst/>
          </a:prstGeom>
          <a:noFill/>
          <a:ln w="12700">
            <a:solidFill>
              <a:srgbClr val="3A4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72491" y="42062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folders were opened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981559" y="3831336"/>
            <a:ext cx="201168" cy="201168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44983" y="384962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082143" y="3358053"/>
            <a:ext cx="0" cy="502920"/>
          </a:xfrm>
          <a:prstGeom prst="line">
            <a:avLst/>
          </a:prstGeom>
          <a:noFill/>
          <a:ln w="12700">
            <a:solidFill>
              <a:srgbClr val="3A4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04903" y="25146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documents were accessed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313970" y="3831336"/>
            <a:ext cx="201168" cy="201168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77394" y="384962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14554" y="4032504"/>
            <a:ext cx="0" cy="502920"/>
          </a:xfrm>
          <a:prstGeom prst="line">
            <a:avLst/>
          </a:prstGeom>
          <a:noFill/>
          <a:ln w="12700">
            <a:solidFill>
              <a:srgbClr val="3A4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7314" y="42062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were executed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646382" y="3831336"/>
            <a:ext cx="201168" cy="201168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09806" y="384962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746966" y="3342287"/>
            <a:ext cx="0" cy="502920"/>
          </a:xfrm>
          <a:prstGeom prst="line">
            <a:avLst/>
          </a:prstGeom>
          <a:noFill/>
          <a:ln w="12700">
            <a:solidFill>
              <a:srgbClr val="3A4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69726" y="25146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USB device was connected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978793" y="3831336"/>
            <a:ext cx="201168" cy="201168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42217" y="384962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079377" y="4032504"/>
            <a:ext cx="0" cy="502920"/>
          </a:xfrm>
          <a:prstGeom prst="line">
            <a:avLst/>
          </a:prstGeom>
          <a:noFill/>
          <a:ln w="12700">
            <a:solidFill>
              <a:srgbClr val="3A4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02137" y="42062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were copied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311205" y="3831336"/>
            <a:ext cx="201168" cy="201168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74629" y="384962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411789" y="3358053"/>
            <a:ext cx="0" cy="502920"/>
          </a:xfrm>
          <a:prstGeom prst="line">
            <a:avLst/>
          </a:prstGeom>
          <a:noFill/>
          <a:ln w="12700">
            <a:solidFill>
              <a:srgbClr val="3A4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34549" y="25146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files were deleted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0643616" y="3831336"/>
            <a:ext cx="201168" cy="201168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07040" y="384962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0744200" y="4032504"/>
            <a:ext cx="0" cy="502920"/>
          </a:xfrm>
          <a:prstGeom prst="line">
            <a:avLst/>
          </a:prstGeom>
          <a:noFill/>
          <a:ln w="12700">
            <a:solidFill>
              <a:srgbClr val="3A4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66960" y="42062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logged off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54864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This final timeline summarized the entire incident from first login to logoff.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PKCERT Internship — Digital Forensics — Week 1, Task 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cons/check_FFFFFF.png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0080" y="6858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71323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325880"/>
            <a:ext cx="6492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chemeClr val="accent6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Forensic Process, Start to Finish</a:t>
            </a:r>
            <a:endParaRPr lang="en-US" sz="27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2697480"/>
            <a:ext cx="6400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demonstrated the full digital forensic workflow: creating a realistic incident, preserving evidence through forensic imaging, verifying integrity via hashing, analyzing multiple Windows artifacts, and correlating them into a reliable timeline.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58368" y="4251960"/>
            <a:ext cx="1828800" cy="0"/>
          </a:xfrm>
          <a:prstGeom prst="line">
            <a:avLst/>
          </a:prstGeom>
          <a:noFill/>
          <a:ln w="31750">
            <a:solidFill>
              <a:schemeClr val="accent6">
                <a:lumMod val="75000"/>
              </a:scheme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4348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</a:t>
            </a: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 should never rely on a single artifact. Reliable conclusions come from combining evidence across multiple independent sources.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06640" y="1371600"/>
            <a:ext cx="4206240" cy="4663440"/>
          </a:xfrm>
          <a:prstGeom prst="roundRect">
            <a:avLst>
              <a:gd name="adj" fmla="val 2174"/>
            </a:avLst>
          </a:prstGeom>
          <a:solidFill>
            <a:schemeClr val="accent6">
              <a:lumMod val="75000"/>
            </a:schemeClr>
          </a:solidFill>
          <a:ln/>
        </p:spPr>
      </p:sp>
      <p:sp>
        <p:nvSpPr>
          <p:cNvPr id="10" name="Text 7"/>
          <p:cNvSpPr/>
          <p:nvPr/>
        </p:nvSpPr>
        <p:spPr>
          <a:xfrm>
            <a:off x="768096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7680960" y="2148840"/>
            <a:ext cx="256032" cy="256032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2" name="Image 1" descr="icons/check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68" y="2212848"/>
            <a:ext cx="128016" cy="1280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92440" y="209397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acquisition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680960" y="2743200"/>
            <a:ext cx="256032" cy="256032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5" name="Image 2" descr="icons/check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68" y="2807208"/>
            <a:ext cx="128016" cy="1280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92440" y="268833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imaging &amp; hashing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680960" y="3337560"/>
            <a:ext cx="256032" cy="256032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8" name="Image 3" descr="icons/check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68" y="3401568"/>
            <a:ext cx="128016" cy="1280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92440" y="328269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artifact analysis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680960" y="3931920"/>
            <a:ext cx="256032" cy="256032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1" name="Image 4" descr="icons/check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68" y="3995928"/>
            <a:ext cx="128016" cy="12801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092440" y="387705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reconstruction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7680960" y="4526280"/>
            <a:ext cx="256032" cy="256032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4" name="Image 5" descr="icons/check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68" y="4590288"/>
            <a:ext cx="128016" cy="12801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092440" y="447141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Investigative report writing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7680960" y="53492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consistent with real-world digital forensic investigations.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8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PKCERT Internship — Digital Forensics — Week 1, Task 1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1285</Words>
  <Application>Microsoft Office PowerPoint</Application>
  <PresentationFormat>Widescreen</PresentationFormat>
  <Paragraphs>221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Jefekhan</cp:lastModifiedBy>
  <cp:revision>5</cp:revision>
  <dcterms:created xsi:type="dcterms:W3CDTF">2026-07-10T07:42:12Z</dcterms:created>
  <dcterms:modified xsi:type="dcterms:W3CDTF">2026-07-10T08:13:52Z</dcterms:modified>
</cp:coreProperties>
</file>