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D6D6">
              <a:alpha val="80000"/>
            </a:srgbClr>
          </a:solidFill>
          <a:ln>
            <a:solidFill>
              <a:srgbClr val="27D6D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7CF6">
              <a:alpha val="75000"/>
            </a:srgbClr>
          </a:solidFill>
          <a:ln>
            <a:solidFill>
              <a:srgbClr val="2F7CF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6656" y="576072"/>
            <a:ext cx="1143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D6D6"/>
                </a:solidFill>
              </a:rPr>
              <a:t>Week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033272"/>
            <a:ext cx="56692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(RAM) Forensics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85800" y="1764792"/>
            <a:ext cx="5303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</a:rPr>
              <a:t>Primary Tool Lead: Volatility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441448"/>
            <a:ext cx="48463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4F2"/>
                </a:solidFill>
              </a:rPr>
              <a:t>Goal: create a repeatable plugin workflow and show one verified result from a Windows memory image.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3474720"/>
            <a:ext cx="2011680" cy="292608"/>
          </a:xfrm>
          <a:prstGeom prst="rect">
            <a:avLst/>
          </a:prstGeom>
          <a:solidFill>
            <a:srgbClr val="2F7CF6">
              <a:alpha val="92000"/>
            </a:srgbClr>
          </a:solidFill>
          <a:ln>
            <a:solidFill>
              <a:srgbClr val="2F7CF6">
                <a:alpha val="7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7FAFC"/>
                </a:solidFill>
              </a:rPr>
              <a:t>Tool: Volatility 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80360" y="3474720"/>
            <a:ext cx="2331720" cy="292608"/>
          </a:xfrm>
          <a:prstGeom prst="rect">
            <a:avLst/>
          </a:prstGeom>
          <a:solidFill>
            <a:srgbClr val="31C9B8">
              <a:alpha val="92000"/>
            </a:srgbClr>
          </a:solidFill>
          <a:ln>
            <a:solidFill>
              <a:srgbClr val="31C9B8">
                <a:alpha val="7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7FAFC"/>
                </a:solidFill>
              </a:rPr>
              <a:t>Acquisition: WinPmem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3913632"/>
            <a:ext cx="3108960" cy="292608"/>
          </a:xfrm>
          <a:prstGeom prst="rect">
            <a:avLst/>
          </a:prstGeom>
          <a:solidFill>
            <a:srgbClr val="8E5CF7">
              <a:alpha val="92000"/>
            </a:srgbClr>
          </a:solidFill>
          <a:ln>
            <a:solidFill>
              <a:srgbClr val="8E5CF7">
                <a:alpha val="7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7FAFC"/>
                </a:solidFill>
              </a:rPr>
              <a:t>Evidence: SHA256 + Plugins</a:t>
            </a:r>
            <a:endParaRPr lang="en-US" sz="1050" dirty="0"/>
          </a:p>
        </p:txBody>
      </p:sp>
      <p:pic>
        <p:nvPicPr>
          <p:cNvPr id="12" name="Image 0" descr="/mnt/data/a_detailed_infographic_poster_slide_like_image.png">    </p:cNvPr>
          <p:cNvPicPr>
            <a:picLocks noChangeAspect="1"/>
          </p:cNvPicPr>
          <p:nvPr/>
        </p:nvPicPr>
        <p:blipFill>
          <a:blip r:embed="rId1"/>
          <a:srcRect l="0" r="0" t="21296" b="21296"/>
          <a:stretch/>
        </p:blipFill>
        <p:spPr>
          <a:xfrm>
            <a:off x="6492240" y="822960"/>
            <a:ext cx="4937760" cy="42519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4892040"/>
            <a:ext cx="14173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D35E"/>
                </a:solidFill>
              </a:rPr>
              <a:t>Deliverables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5230368"/>
            <a:ext cx="4663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4F2"/>
                </a:solidFill>
              </a:rPr>
              <a:t>• Install + commands documented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4F2"/>
                </a:solidFill>
              </a:rPr>
              <a:t>• Screenshots captured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4F2"/>
                </a:solidFill>
              </a:rPr>
              <a:t>• Verified example result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4F2"/>
                </a:solidFill>
              </a:rPr>
              <a:t>• Short presentation walkthrough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NCERT Digital Forensics Internship 2026   |   1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Memory Forensics Workflow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D6D6">
              <a:alpha val="80000"/>
            </a:srgbClr>
          </a:solidFill>
          <a:ln>
            <a:solidFill>
              <a:srgbClr val="27D6D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7CF6">
              <a:alpha val="75000"/>
            </a:srgbClr>
          </a:solidFill>
          <a:ln>
            <a:solidFill>
              <a:srgbClr val="2F7CF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Purpose &amp; End-to-End Workflow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FB2C9"/>
                </a:solidFill>
              </a:rPr>
              <a:t>What we have to do and how we will complete it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418320" y="411480"/>
            <a:ext cx="219456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7D6D6"/>
                </a:solidFill>
              </a:rPr>
              <a:t>Week 5  •  Volatility 3</a:t>
            </a:r>
            <a:endParaRPr lang="en-US" sz="1050" dirty="0"/>
          </a:p>
        </p:txBody>
      </p:sp>
      <p:pic>
        <p:nvPicPr>
          <p:cNvPr id="8" name="Image 0" descr="/mnt/data/task5_workflow_diagram.png">    </p:cNvPr>
          <p:cNvPicPr>
            <a:picLocks noChangeAspect="1"/>
          </p:cNvPicPr>
          <p:nvPr/>
        </p:nvPicPr>
        <p:blipFill>
          <a:blip r:embed="rId1"/>
          <a:srcRect l="0" r="0" t="9251" b="9251"/>
          <a:stretch/>
        </p:blipFill>
        <p:spPr>
          <a:xfrm>
            <a:off x="548640" y="1234440"/>
            <a:ext cx="1115568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5440680"/>
            <a:ext cx="3291840" cy="320040"/>
          </a:xfrm>
          <a:prstGeom prst="rect">
            <a:avLst/>
          </a:prstGeom>
          <a:solidFill>
            <a:srgbClr val="3CEFA7">
              <a:alpha val="75000"/>
            </a:srgbClr>
          </a:solidFill>
          <a:ln>
            <a:solidFill>
              <a:srgbClr val="3CEFA7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Expected Outcome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5824728"/>
            <a:ext cx="3291840" cy="43891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A repeatable Volatility 3 procedure with a verified result and saved screenshots.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4434840" y="5440680"/>
            <a:ext cx="3154680" cy="320040"/>
          </a:xfrm>
          <a:prstGeom prst="rect">
            <a:avLst/>
          </a:prstGeom>
          <a:solidFill>
            <a:srgbClr val="2F7CF6">
              <a:alpha val="75000"/>
            </a:srgbClr>
          </a:solidFill>
          <a:ln>
            <a:solidFill>
              <a:srgbClr val="2F7CF6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Presentation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34840" y="5824728"/>
            <a:ext cx="3154680" cy="43891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Walk the class through the workflow using live demo or screenshots.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8046720" y="5440680"/>
            <a:ext cx="3246120" cy="320040"/>
          </a:xfrm>
          <a:prstGeom prst="rect">
            <a:avLst/>
          </a:prstGeom>
          <a:solidFill>
            <a:srgbClr val="8E5CF7">
              <a:alpha val="75000"/>
            </a:srgbClr>
          </a:solidFill>
          <a:ln>
            <a:solidFill>
              <a:srgbClr val="8E5CF7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Report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46720" y="5824728"/>
            <a:ext cx="3246120" cy="43891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Document installation, commands, screenshots, and one verified example.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NCERT Digital Forensics Internship 2026   |  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Memory Forensics Workflow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D6D6">
              <a:alpha val="80000"/>
            </a:srgbClr>
          </a:solidFill>
          <a:ln>
            <a:solidFill>
              <a:srgbClr val="27D6D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7CF6">
              <a:alpha val="75000"/>
            </a:srgbClr>
          </a:solidFill>
          <a:ln>
            <a:solidFill>
              <a:srgbClr val="2F7CF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 Setup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FB2C9"/>
                </a:solidFill>
              </a:rPr>
              <a:t>Prepare folders, install the tool, and confirm Volatility 3 is available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418320" y="411480"/>
            <a:ext cx="219456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7D6D6"/>
                </a:solidFill>
              </a:rPr>
              <a:t>Week 5  •  Volatility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207008"/>
            <a:ext cx="3200400" cy="320040"/>
          </a:xfrm>
          <a:prstGeom prst="rect">
            <a:avLst/>
          </a:prstGeom>
          <a:solidFill>
            <a:srgbClr val="31C9B8">
              <a:alpha val="75000"/>
            </a:srgbClr>
          </a:solidFill>
          <a:ln>
            <a:solidFill>
              <a:srgbClr val="31C9B8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Folder Structure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591056"/>
            <a:ext cx="3200400" cy="373075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tools/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memory_image/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outputs/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screenshots/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report/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Keep memory images and outputs local. Do not push them to GitHub.</a:t>
            </a:r>
            <a:endParaRPr lang="en-US" sz="1080" dirty="0"/>
          </a:p>
        </p:txBody>
      </p:sp>
      <p:pic>
        <p:nvPicPr>
          <p:cNvPr id="10" name="Image 0" descr="/mnt/data/task5_report_assets/02_install_volatility.png">    </p:cNvPr>
          <p:cNvPicPr>
            <a:picLocks noChangeAspect="1"/>
          </p:cNvPicPr>
          <p:nvPr/>
        </p:nvPicPr>
        <p:blipFill>
          <a:blip r:embed="rId1"/>
          <a:srcRect l="17938" r="17938" t="0" b="0"/>
          <a:stretch/>
        </p:blipFill>
        <p:spPr>
          <a:xfrm>
            <a:off x="4069080" y="1234440"/>
            <a:ext cx="7360920" cy="43891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069080" y="1234440"/>
            <a:ext cx="7360920" cy="438912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244966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5641848"/>
            <a:ext cx="4892040" cy="256032"/>
          </a:xfrm>
          <a:prstGeom prst="rect">
            <a:avLst/>
          </a:prstGeom>
          <a:solidFill>
            <a:srgbClr val="0B1522"/>
          </a:solidFill>
          <a:ln>
            <a:solidFill>
              <a:srgbClr val="244966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D6D6"/>
                </a:solidFill>
              </a:rPr>
              <a:t>Setup commands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5916168"/>
            <a:ext cx="4892040" cy="411480"/>
          </a:xfrm>
          <a:prstGeom prst="rect">
            <a:avLst/>
          </a:prstGeom>
          <a:solidFill>
            <a:srgbClr val="030B13"/>
          </a:solidFill>
          <a:ln>
            <a:solidFill>
              <a:srgbClr val="244966">
                <a:alpha val="70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6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pip install volatility3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--version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PATH issue: use full vol.exe path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06440" y="5641848"/>
            <a:ext cx="5394960" cy="320040"/>
          </a:xfrm>
          <a:prstGeom prst="rect">
            <a:avLst/>
          </a:prstGeom>
          <a:solidFill>
            <a:srgbClr val="F5A623">
              <a:alpha val="75000"/>
            </a:srgbClr>
          </a:solidFill>
          <a:ln>
            <a:solidFill>
              <a:srgbClr val="F5A623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Note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06440" y="6025896"/>
            <a:ext cx="5394960" cy="30175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If vol is not recognized, use: C:\Users\Boss\AppData\Roaming\Python\Python314\Scripts\vol.exe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NCERT Digital Forensics Internship 2026   |   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Memory Forensics Workflow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D6D6">
              <a:alpha val="80000"/>
            </a:srgbClr>
          </a:solidFill>
          <a:ln>
            <a:solidFill>
              <a:srgbClr val="27D6D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7CF6">
              <a:alpha val="75000"/>
            </a:srgbClr>
          </a:solidFill>
          <a:ln>
            <a:solidFill>
              <a:srgbClr val="2F7CF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Acquisition with WinPmem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FB2C9"/>
                </a:solidFill>
              </a:rPr>
              <a:t>Capture RAM before analysis and preserve the evidence file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418320" y="411480"/>
            <a:ext cx="219456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7D6D6"/>
                </a:solidFill>
              </a:rPr>
              <a:t>Week 5  •  Volatility 3</a:t>
            </a:r>
            <a:endParaRPr lang="en-US" sz="1050" dirty="0"/>
          </a:p>
        </p:txBody>
      </p:sp>
      <p:pic>
        <p:nvPicPr>
          <p:cNvPr id="8" name="Image 0" descr="/mnt/data/task5_report_assets/03_winpmem_help.png">    </p:cNvPr>
          <p:cNvPicPr>
            <a:picLocks noChangeAspect="1"/>
          </p:cNvPicPr>
          <p:nvPr/>
        </p:nvPicPr>
        <p:blipFill>
          <a:blip r:embed="rId1"/>
          <a:srcRect l="2683" r="2683" t="0" b="0"/>
          <a:stretch/>
        </p:blipFill>
        <p:spPr>
          <a:xfrm>
            <a:off x="594360" y="1325880"/>
            <a:ext cx="5257800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325880"/>
            <a:ext cx="5257800" cy="214884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244966">
                <a:alpha val="90000"/>
              </a:srgbClr>
            </a:solidFill>
            <a:prstDash val="solid"/>
          </a:ln>
        </p:spPr>
      </p:sp>
      <p:pic>
        <p:nvPicPr>
          <p:cNvPr id="10" name="Image 1" descr="/mnt/data/task5_report_assets/04_winpmem_acquire.png">    </p:cNvPr>
          <p:cNvPicPr>
            <a:picLocks noChangeAspect="1"/>
          </p:cNvPicPr>
          <p:nvPr/>
        </p:nvPicPr>
        <p:blipFill>
          <a:blip r:embed="rId2"/>
          <a:srcRect l="344" r="344" t="0" b="0"/>
          <a:stretch/>
        </p:blipFill>
        <p:spPr>
          <a:xfrm>
            <a:off x="594360" y="3886200"/>
            <a:ext cx="5257800" cy="2148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94360" y="3886200"/>
            <a:ext cx="5257800" cy="214884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244966">
                <a:alpha val="9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72200" y="1325880"/>
            <a:ext cx="2468880" cy="320040"/>
          </a:xfrm>
          <a:prstGeom prst="rect">
            <a:avLst/>
          </a:prstGeom>
          <a:solidFill>
            <a:srgbClr val="3CEFA7">
              <a:alpha val="75000"/>
            </a:srgbClr>
          </a:solidFill>
          <a:ln>
            <a:solidFill>
              <a:srgbClr val="3CEFA7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Correct Command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172200" y="1709928"/>
            <a:ext cx="2468880" cy="144475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winpmem.exe acquire --format raw .\memory_image\memory.raw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Run PowerShell as Administrator.</a:t>
            </a:r>
            <a:endParaRPr lang="en-US" sz="1080" dirty="0"/>
          </a:p>
        </p:txBody>
      </p:sp>
      <p:sp>
        <p:nvSpPr>
          <p:cNvPr id="14" name="Text 10"/>
          <p:cNvSpPr/>
          <p:nvPr/>
        </p:nvSpPr>
        <p:spPr>
          <a:xfrm>
            <a:off x="8961120" y="1325880"/>
            <a:ext cx="2468880" cy="320040"/>
          </a:xfrm>
          <a:prstGeom prst="rect">
            <a:avLst/>
          </a:prstGeom>
          <a:solidFill>
            <a:srgbClr val="2F7CF6">
              <a:alpha val="75000"/>
            </a:srgbClr>
          </a:solidFill>
          <a:ln>
            <a:solidFill>
              <a:srgbClr val="2F7CF6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VM Tip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961120" y="1709928"/>
            <a:ext cx="2468880" cy="144475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Use a VM with 4 GB RAM. It creates a smaller memory.raw and avoids disk space issues.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6172200" y="3886200"/>
            <a:ext cx="5257800" cy="320040"/>
          </a:xfrm>
          <a:prstGeom prst="rect">
            <a:avLst/>
          </a:prstGeom>
          <a:solidFill>
            <a:srgbClr val="8E5CF7">
              <a:alpha val="75000"/>
            </a:srgbClr>
          </a:solidFill>
          <a:ln>
            <a:solidFill>
              <a:srgbClr val="8E5CF7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What to screenshot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172200" y="4270248"/>
            <a:ext cx="5257800" cy="176479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1. WinPmem help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2. Acquisition command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3. Completed imaging message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4. memory.raw file size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5. Any errors or warnings</a:t>
            </a:r>
            <a:endParaRPr lang="en-US" sz="1080" dirty="0"/>
          </a:p>
        </p:txBody>
      </p:sp>
      <p:sp>
        <p:nvSpPr>
          <p:cNvPr id="18" name="Text 14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NCERT Digital Forensics Internship 2026   |   4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Memory Forensics Workflow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D6D6">
              <a:alpha val="80000"/>
            </a:srgbClr>
          </a:solidFill>
          <a:ln>
            <a:solidFill>
              <a:srgbClr val="27D6D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7CF6">
              <a:alpha val="75000"/>
            </a:srgbClr>
          </a:solidFill>
          <a:ln>
            <a:solidFill>
              <a:srgbClr val="2F7CF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Integrity and Image Verification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FB2C9"/>
                </a:solidFill>
              </a:rPr>
              <a:t>Create a SHA256 hash and confirm the memory image details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418320" y="411480"/>
            <a:ext cx="219456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7D6D6"/>
                </a:solidFill>
              </a:rPr>
              <a:t>Week 5  •  Volatility 3</a:t>
            </a:r>
            <a:endParaRPr lang="en-US" sz="1050" dirty="0"/>
          </a:p>
        </p:txBody>
      </p:sp>
      <p:pic>
        <p:nvPicPr>
          <p:cNvPr id="8" name="Image 0" descr="/mnt/data/task5_report_assets/05_hash.png">    </p:cNvPr>
          <p:cNvPicPr>
            <a:picLocks noChangeAspect="1"/>
          </p:cNvPicPr>
          <p:nvPr/>
        </p:nvPicPr>
        <p:blipFill>
          <a:blip r:embed="rId1"/>
          <a:srcRect l="6142" r="6142" t="0" b="0"/>
          <a:stretch/>
        </p:blipFill>
        <p:spPr>
          <a:xfrm>
            <a:off x="594360" y="1234440"/>
            <a:ext cx="5349240" cy="2331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234440"/>
            <a:ext cx="5349240" cy="233172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244966">
                <a:alpha val="90000"/>
              </a:srgbClr>
            </a:solidFill>
            <a:prstDash val="solid"/>
          </a:ln>
        </p:spPr>
      </p:sp>
      <p:pic>
        <p:nvPicPr>
          <p:cNvPr id="10" name="Image 1" descr="/mnt/data/task5_report_assets/06_windows_info.png">    </p:cNvPr>
          <p:cNvPicPr>
            <a:picLocks noChangeAspect="1"/>
          </p:cNvPicPr>
          <p:nvPr/>
        </p:nvPicPr>
        <p:blipFill>
          <a:blip r:embed="rId2"/>
          <a:srcRect l="3443" r="3443" t="0" b="0"/>
          <a:stretch/>
        </p:blipFill>
        <p:spPr>
          <a:xfrm>
            <a:off x="6172200" y="1234440"/>
            <a:ext cx="5349240" cy="2331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72200" y="1234440"/>
            <a:ext cx="5349240" cy="233172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244966">
                <a:alpha val="9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3977640"/>
            <a:ext cx="2926080" cy="320040"/>
          </a:xfrm>
          <a:prstGeom prst="rect">
            <a:avLst/>
          </a:prstGeom>
          <a:solidFill>
            <a:srgbClr val="3CEFA7">
              <a:alpha val="75000"/>
            </a:srgbClr>
          </a:solidFill>
          <a:ln>
            <a:solidFill>
              <a:srgbClr val="3CEFA7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Hash Purpose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1520" y="4361688"/>
            <a:ext cx="2926080" cy="107899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Shows the memory image was not changed after acquisition. Include the hash in the report.</a:t>
            </a:r>
            <a:endParaRPr lang="en-US" sz="1080" dirty="0"/>
          </a:p>
        </p:txBody>
      </p:sp>
      <p:sp>
        <p:nvSpPr>
          <p:cNvPr id="14" name="Text 10"/>
          <p:cNvSpPr/>
          <p:nvPr/>
        </p:nvSpPr>
        <p:spPr>
          <a:xfrm>
            <a:off x="3977640" y="3977640"/>
            <a:ext cx="2926080" cy="320040"/>
          </a:xfrm>
          <a:prstGeom prst="rect">
            <a:avLst/>
          </a:prstGeom>
          <a:solidFill>
            <a:srgbClr val="2F7CF6">
              <a:alpha val="75000"/>
            </a:srgbClr>
          </a:solidFill>
          <a:ln>
            <a:solidFill>
              <a:srgbClr val="2F7CF6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windows.info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977640" y="4361688"/>
            <a:ext cx="2926080" cy="107899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Confirms kernel data, Windows version, architecture, and image compatibility.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7223760" y="3977640"/>
            <a:ext cx="2926080" cy="320040"/>
          </a:xfrm>
          <a:prstGeom prst="rect">
            <a:avLst/>
          </a:prstGeom>
          <a:solidFill>
            <a:srgbClr val="8E5CF7">
              <a:alpha val="75000"/>
            </a:srgbClr>
          </a:solidFill>
          <a:ln>
            <a:solidFill>
              <a:srgbClr val="8E5CF7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Verified Start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223760" y="4361688"/>
            <a:ext cx="2926080" cy="107899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If windows.info works, the image is readable by Volatility 3.</a:t>
            </a:r>
            <a:endParaRPr lang="en-US" sz="1080" dirty="0"/>
          </a:p>
        </p:txBody>
      </p:sp>
      <p:sp>
        <p:nvSpPr>
          <p:cNvPr id="18" name="Text 14"/>
          <p:cNvSpPr/>
          <p:nvPr/>
        </p:nvSpPr>
        <p:spPr>
          <a:xfrm>
            <a:off x="731520" y="5623560"/>
            <a:ext cx="10424160" cy="256032"/>
          </a:xfrm>
          <a:prstGeom prst="rect">
            <a:avLst/>
          </a:prstGeom>
          <a:solidFill>
            <a:srgbClr val="0B1522"/>
          </a:solidFill>
          <a:ln>
            <a:solidFill>
              <a:srgbClr val="244966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D6D6"/>
                </a:solidFill>
              </a:rPr>
              <a:t>Commands to document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731520" y="5897880"/>
            <a:ext cx="10424160" cy="411480"/>
          </a:xfrm>
          <a:prstGeom prst="rect">
            <a:avLst/>
          </a:prstGeom>
          <a:solidFill>
            <a:srgbClr val="030B13"/>
          </a:solidFill>
          <a:ln>
            <a:solidFill>
              <a:srgbClr val="244966">
                <a:alpha val="70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6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Get-FileHash .\memory_image\memory.raw -Algorithm SHA256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.\memory_image\memory.raw windows.info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NCERT Digital Forensics Internship 2026   |   5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Memory Forensics Workflow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D6D6">
              <a:alpha val="80000"/>
            </a:srgbClr>
          </a:solidFill>
          <a:ln>
            <a:solidFill>
              <a:srgbClr val="27D6D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7CF6">
              <a:alpha val="75000"/>
            </a:srgbClr>
          </a:solidFill>
          <a:ln>
            <a:solidFill>
              <a:srgbClr val="2F7CF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Volatility 3 Plugin Workflow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FB2C9"/>
                </a:solidFill>
              </a:rPr>
              <a:t>Run core plugins in a repeatable order and save every output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418320" y="411480"/>
            <a:ext cx="219456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7D6D6"/>
                </a:solidFill>
              </a:rPr>
              <a:t>Week 5  •  Volatility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3520440" cy="292608"/>
          </a:xfrm>
          <a:prstGeom prst="rect">
            <a:avLst/>
          </a:prstGeom>
          <a:solidFill>
            <a:srgbClr val="27D6D6">
              <a:alpha val="80000"/>
            </a:srgbClr>
          </a:solidFill>
          <a:ln>
            <a:solidFill>
              <a:srgbClr val="27D6D6">
                <a:alpha val="9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windows.pslist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3520440" cy="713232"/>
          </a:xfrm>
          <a:prstGeom prst="rect">
            <a:avLst/>
          </a:prstGeom>
          <a:solidFill>
            <a:srgbClr val="0D1B2E">
              <a:alpha val="94000"/>
            </a:srgbClr>
          </a:solidFill>
          <a:ln>
            <a:solidFill>
              <a:srgbClr val="244966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List active processes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Find notepad.exe, cmd.exe, powershell.exe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389120" y="1234440"/>
            <a:ext cx="3520440" cy="292608"/>
          </a:xfrm>
          <a:prstGeom prst="rect">
            <a:avLst/>
          </a:prstGeom>
          <a:solidFill>
            <a:srgbClr val="2F7CF6">
              <a:alpha val="80000"/>
            </a:srgbClr>
          </a:solidFill>
          <a:ln>
            <a:solidFill>
              <a:srgbClr val="2F7CF6">
                <a:alpha val="9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windows.pstree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1572768"/>
            <a:ext cx="3520440" cy="713232"/>
          </a:xfrm>
          <a:prstGeom prst="rect">
            <a:avLst/>
          </a:prstGeom>
          <a:solidFill>
            <a:srgbClr val="0D1B2E">
              <a:alpha val="94000"/>
            </a:srgbClr>
          </a:solidFill>
          <a:ln>
            <a:solidFill>
              <a:srgbClr val="244966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Show parent-child relation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Understand process execution flow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138160" y="1234440"/>
            <a:ext cx="3520440" cy="292608"/>
          </a:xfrm>
          <a:prstGeom prst="rect">
            <a:avLst/>
          </a:prstGeom>
          <a:solidFill>
            <a:srgbClr val="8E5CF7">
              <a:alpha val="80000"/>
            </a:srgbClr>
          </a:solidFill>
          <a:ln>
            <a:solidFill>
              <a:srgbClr val="8E5CF7">
                <a:alpha val="9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windows.cmdline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1572768"/>
            <a:ext cx="3520440" cy="713232"/>
          </a:xfrm>
          <a:prstGeom prst="rect">
            <a:avLst/>
          </a:prstGeom>
          <a:solidFill>
            <a:srgbClr val="0D1B2E">
              <a:alpha val="94000"/>
            </a:srgbClr>
          </a:solidFill>
          <a:ln>
            <a:solidFill>
              <a:srgbClr val="244966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Show command-line arguments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Verify whoami / ipconfig / launched apps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3520440" cy="292608"/>
          </a:xfrm>
          <a:prstGeom prst="rect">
            <a:avLst/>
          </a:prstGeom>
          <a:solidFill>
            <a:srgbClr val="F5A623">
              <a:alpha val="80000"/>
            </a:srgbClr>
          </a:solidFill>
          <a:ln>
            <a:solidFill>
              <a:srgbClr val="F5A623">
                <a:alpha val="9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windows.netscan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081528"/>
            <a:ext cx="3520440" cy="713232"/>
          </a:xfrm>
          <a:prstGeom prst="rect">
            <a:avLst/>
          </a:prstGeom>
          <a:solidFill>
            <a:srgbClr val="0D1B2E">
              <a:alpha val="94000"/>
            </a:srgbClr>
          </a:solidFill>
          <a:ln>
            <a:solidFill>
              <a:srgbClr val="244966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Show network connections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Check local/remote address, ports, PID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389120" y="2743200"/>
            <a:ext cx="3520440" cy="292608"/>
          </a:xfrm>
          <a:prstGeom prst="rect">
            <a:avLst/>
          </a:prstGeom>
          <a:solidFill>
            <a:srgbClr val="3CEFA7">
              <a:alpha val="80000"/>
            </a:srgbClr>
          </a:solidFill>
          <a:ln>
            <a:solidFill>
              <a:srgbClr val="3CEFA7">
                <a:alpha val="9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windows.filescan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3081528"/>
            <a:ext cx="3520440" cy="713232"/>
          </a:xfrm>
          <a:prstGeom prst="rect">
            <a:avLst/>
          </a:prstGeom>
          <a:solidFill>
            <a:srgbClr val="0D1B2E">
              <a:alpha val="94000"/>
            </a:srgbClr>
          </a:solidFill>
          <a:ln>
            <a:solidFill>
              <a:srgbClr val="244966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Search memory file objects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Find files available in memory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138160" y="2743200"/>
            <a:ext cx="3520440" cy="292608"/>
          </a:xfrm>
          <a:prstGeom prst="rect">
            <a:avLst/>
          </a:prstGeom>
          <a:solidFill>
            <a:srgbClr val="FF5C77">
              <a:alpha val="80000"/>
            </a:srgbClr>
          </a:solidFill>
          <a:ln>
            <a:solidFill>
              <a:srgbClr val="FF5C77">
                <a:alpha val="9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windows.dumpfiles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0" y="3081528"/>
            <a:ext cx="3520440" cy="713232"/>
          </a:xfrm>
          <a:prstGeom prst="rect">
            <a:avLst/>
          </a:prstGeom>
          <a:solidFill>
            <a:srgbClr val="0D1B2E">
              <a:alpha val="94000"/>
            </a:srgbClr>
          </a:solidFill>
          <a:ln>
            <a:solidFill>
              <a:srgbClr val="244966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Extract file objects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Recover available file content if needed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77240" y="4736592"/>
            <a:ext cx="10698480" cy="256032"/>
          </a:xfrm>
          <a:prstGeom prst="rect">
            <a:avLst/>
          </a:prstGeom>
          <a:solidFill>
            <a:srgbClr val="0B1522"/>
          </a:solidFill>
          <a:ln>
            <a:solidFill>
              <a:srgbClr val="244966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D6D6"/>
                </a:solidFill>
              </a:rPr>
              <a:t>Save outputs for report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5010912"/>
            <a:ext cx="10698480" cy="822960"/>
          </a:xfrm>
          <a:prstGeom prst="rect">
            <a:avLst/>
          </a:prstGeom>
          <a:solidFill>
            <a:srgbClr val="030B13"/>
          </a:solidFill>
          <a:ln>
            <a:solidFill>
              <a:srgbClr val="244966">
                <a:alpha val="70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6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memory_image\memory.raw windows.pslist &gt; outputs\02_pslist.txt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memory_image\memory.raw windows.cmdline &gt; outputs\04_cmdline.txt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memory_image\memory.raw windows.netscan &gt; outputs\05_netscan.txt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NCERT Digital Forensics Internship 2026   |   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Memory Forensics Workflow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D6D6">
              <a:alpha val="80000"/>
            </a:srgbClr>
          </a:solidFill>
          <a:ln>
            <a:solidFill>
              <a:srgbClr val="27D6D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7CF6">
              <a:alpha val="75000"/>
            </a:srgbClr>
          </a:solidFill>
          <a:ln>
            <a:solidFill>
              <a:srgbClr val="2F7CF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Result: Process Evidence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FB2C9"/>
                </a:solidFill>
              </a:rPr>
              <a:t>Use two plugins to confirm the same finding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418320" y="411480"/>
            <a:ext cx="219456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7D6D6"/>
                </a:solidFill>
              </a:rPr>
              <a:t>Week 5  •  Volatility 3</a:t>
            </a:r>
            <a:endParaRPr lang="en-US" sz="1050" dirty="0"/>
          </a:p>
        </p:txBody>
      </p:sp>
      <p:pic>
        <p:nvPicPr>
          <p:cNvPr id="8" name="Image 0" descr="/mnt/data/task5_report_assets/07_pslist.png">    </p:cNvPr>
          <p:cNvPicPr>
            <a:picLocks noChangeAspect="1"/>
          </p:cNvPicPr>
          <p:nvPr/>
        </p:nvPicPr>
        <p:blipFill>
          <a:blip r:embed="rId1"/>
          <a:srcRect l="22917" r="22917" t="0" b="0"/>
          <a:stretch/>
        </p:blipFill>
        <p:spPr>
          <a:xfrm>
            <a:off x="594360" y="1170432"/>
            <a:ext cx="5440680" cy="3840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170432"/>
            <a:ext cx="5440680" cy="384048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244966">
                <a:alpha val="90000"/>
              </a:srgbClr>
            </a:solidFill>
            <a:prstDash val="solid"/>
          </a:ln>
        </p:spPr>
      </p:sp>
      <p:pic>
        <p:nvPicPr>
          <p:cNvPr id="10" name="Image 1" descr="/mnt/data/task5_report_assets/08_cmdline.png">    </p:cNvPr>
          <p:cNvPicPr>
            <a:picLocks noChangeAspect="1"/>
          </p:cNvPicPr>
          <p:nvPr/>
        </p:nvPicPr>
        <p:blipFill>
          <a:blip r:embed="rId2"/>
          <a:srcRect l="18522" r="18522" t="0" b="0"/>
          <a:stretch/>
        </p:blipFill>
        <p:spPr>
          <a:xfrm>
            <a:off x="6263640" y="1170432"/>
            <a:ext cx="5303520" cy="3840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303520" cy="384048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244966">
                <a:alpha val="9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5257800"/>
            <a:ext cx="3246120" cy="320040"/>
          </a:xfrm>
          <a:prstGeom prst="rect">
            <a:avLst/>
          </a:prstGeom>
          <a:solidFill>
            <a:srgbClr val="3CEFA7">
              <a:alpha val="75000"/>
            </a:srgbClr>
          </a:solidFill>
          <a:ln>
            <a:solidFill>
              <a:srgbClr val="3CEFA7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Finding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77240" y="5641848"/>
            <a:ext cx="3246120" cy="48463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notepad.exe and cmd.exe were present in the memory image.</a:t>
            </a:r>
            <a:endParaRPr lang="en-US" sz="1080" dirty="0"/>
          </a:p>
        </p:txBody>
      </p:sp>
      <p:sp>
        <p:nvSpPr>
          <p:cNvPr id="14" name="Text 10"/>
          <p:cNvSpPr/>
          <p:nvPr/>
        </p:nvSpPr>
        <p:spPr>
          <a:xfrm>
            <a:off x="4434840" y="5257800"/>
            <a:ext cx="3246120" cy="320040"/>
          </a:xfrm>
          <a:prstGeom prst="rect">
            <a:avLst/>
          </a:prstGeom>
          <a:solidFill>
            <a:srgbClr val="2F7CF6">
              <a:alpha val="75000"/>
            </a:srgbClr>
          </a:solidFill>
          <a:ln>
            <a:solidFill>
              <a:srgbClr val="2F7CF6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Verification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434840" y="5641848"/>
            <a:ext cx="3246120" cy="48463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pslist shows the process. cmdline confirms command-line activity.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8092440" y="5257800"/>
            <a:ext cx="3246120" cy="320040"/>
          </a:xfrm>
          <a:prstGeom prst="rect">
            <a:avLst/>
          </a:prstGeom>
          <a:solidFill>
            <a:srgbClr val="8E5CF7">
              <a:alpha val="75000"/>
            </a:srgbClr>
          </a:solidFill>
          <a:ln>
            <a:solidFill>
              <a:srgbClr val="8E5CF7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How to present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092440" y="5641848"/>
            <a:ext cx="3246120" cy="48463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Show PID, process name, and command text as proof.</a:t>
            </a:r>
            <a:endParaRPr lang="en-US" sz="1080" dirty="0"/>
          </a:p>
        </p:txBody>
      </p:sp>
      <p:sp>
        <p:nvSpPr>
          <p:cNvPr id="18" name="Text 14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NCERT Digital Forensics Internship 2026   |   7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Memory Forensics Workflow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D6D6">
              <a:alpha val="80000"/>
            </a:srgbClr>
          </a:solidFill>
          <a:ln>
            <a:solidFill>
              <a:srgbClr val="27D6D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7CF6">
              <a:alpha val="75000"/>
            </a:srgbClr>
          </a:solidFill>
          <a:ln>
            <a:solidFill>
              <a:srgbClr val="2F7CF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Additional Analysis: Network and Files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FB2C9"/>
                </a:solidFill>
              </a:rPr>
              <a:t>Use extra plugins when you need more evidence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418320" y="411480"/>
            <a:ext cx="219456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7D6D6"/>
                </a:solidFill>
              </a:rPr>
              <a:t>Week 5  •  Volatility 3</a:t>
            </a:r>
            <a:endParaRPr lang="en-US" sz="1050" dirty="0"/>
          </a:p>
        </p:txBody>
      </p:sp>
      <p:pic>
        <p:nvPicPr>
          <p:cNvPr id="8" name="Image 0" descr="/mnt/data/task5_report_assets/09_netscan.png">    </p:cNvPr>
          <p:cNvPicPr>
            <a:picLocks noChangeAspect="1"/>
          </p:cNvPicPr>
          <p:nvPr/>
        </p:nvPicPr>
        <p:blipFill>
          <a:blip r:embed="rId1"/>
          <a:srcRect l="23633" r="23633" t="0" b="0"/>
          <a:stretch/>
        </p:blipFill>
        <p:spPr>
          <a:xfrm>
            <a:off x="594360" y="1143000"/>
            <a:ext cx="6492240" cy="4526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143000"/>
            <a:ext cx="6492240" cy="452628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244966">
                <a:alpha val="9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52360" y="1188720"/>
            <a:ext cx="3977640" cy="320040"/>
          </a:xfrm>
          <a:prstGeom prst="rect">
            <a:avLst/>
          </a:prstGeom>
          <a:solidFill>
            <a:srgbClr val="F5A623">
              <a:alpha val="75000"/>
            </a:srgbClr>
          </a:solidFill>
          <a:ln>
            <a:solidFill>
              <a:srgbClr val="F5A623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Network Questions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52360" y="1572768"/>
            <a:ext cx="3977640" cy="57607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Which process opened a connection?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What was the remote IP/port?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Which PID owns it?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7452360" y="2514600"/>
            <a:ext cx="3977640" cy="320040"/>
          </a:xfrm>
          <a:prstGeom prst="rect">
            <a:avLst/>
          </a:prstGeom>
          <a:solidFill>
            <a:srgbClr val="3CEFA7">
              <a:alpha val="75000"/>
            </a:srgbClr>
          </a:solidFill>
          <a:ln>
            <a:solidFill>
              <a:srgbClr val="3CEFA7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File Questions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52360" y="2898648"/>
            <a:ext cx="3977640" cy="66751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Can files be found in memory?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Can any objects be dumped?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Do they support the case story?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7452360" y="4023360"/>
            <a:ext cx="3977640" cy="256032"/>
          </a:xfrm>
          <a:prstGeom prst="rect">
            <a:avLst/>
          </a:prstGeom>
          <a:solidFill>
            <a:srgbClr val="0B1522"/>
          </a:solidFill>
          <a:ln>
            <a:solidFill>
              <a:srgbClr val="244966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D6D6"/>
                </a:solidFill>
              </a:rPr>
              <a:t>Optional commands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452360" y="4297680"/>
            <a:ext cx="3977640" cy="1005840"/>
          </a:xfrm>
          <a:prstGeom prst="rect">
            <a:avLst/>
          </a:prstGeom>
          <a:solidFill>
            <a:srgbClr val="030B13"/>
          </a:solidFill>
          <a:ln>
            <a:solidFill>
              <a:srgbClr val="244966">
                <a:alpha val="70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6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memory.raw windows.filescan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memory.raw -o outputs\dumped_files windows.dumpfiles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memory.raw windows.dlllist --pid &lt;PID&gt;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NCERT Digital Forensics Internship 2026   |   8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Memory Forensics Workflow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D6D6">
              <a:alpha val="80000"/>
            </a:srgbClr>
          </a:solidFill>
          <a:ln>
            <a:solidFill>
              <a:srgbClr val="27D6D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F7CF6">
              <a:alpha val="75000"/>
            </a:srgbClr>
          </a:solidFill>
          <a:ln>
            <a:solidFill>
              <a:srgbClr val="2F7CF6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Deliverables and 5-Minute Presentation Plan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FB2C9"/>
                </a:solidFill>
              </a:rPr>
              <a:t>Keep the story short, clear, and evidence-based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418320" y="411480"/>
            <a:ext cx="219456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7D6D6"/>
                </a:solidFill>
              </a:rPr>
              <a:t>Week 5  •  Volatility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3337560" cy="320040"/>
          </a:xfrm>
          <a:prstGeom prst="rect">
            <a:avLst/>
          </a:prstGeom>
          <a:solidFill>
            <a:srgbClr val="31C9B8">
              <a:alpha val="75000"/>
            </a:srgbClr>
          </a:solidFill>
          <a:ln>
            <a:solidFill>
              <a:srgbClr val="31C9B8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Report Sections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618488"/>
            <a:ext cx="3337560" cy="409651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1. Objective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2. Tool installation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3. RAM acquisition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4. Hash value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5. Plugin workflow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6. Screenshots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7. Verified result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8. Conclusion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434840" y="1234440"/>
            <a:ext cx="3337560" cy="320040"/>
          </a:xfrm>
          <a:prstGeom prst="rect">
            <a:avLst/>
          </a:prstGeom>
          <a:solidFill>
            <a:srgbClr val="2F7CF6">
              <a:alpha val="75000"/>
            </a:srgbClr>
          </a:solidFill>
          <a:ln>
            <a:solidFill>
              <a:srgbClr val="2F7CF6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Presentation Flow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1618488"/>
            <a:ext cx="3337560" cy="409651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Slide 1: Title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Slide 2: RAM forensics idea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Slide 3: Volatility setup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Slide 4: Acquisition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Slide 5: windows.info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Slide 6: plugins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Slide 7: verified result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Slide 8: conclusion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183880" y="1234440"/>
            <a:ext cx="3337560" cy="320040"/>
          </a:xfrm>
          <a:prstGeom prst="rect">
            <a:avLst/>
          </a:prstGeom>
          <a:solidFill>
            <a:srgbClr val="3CEFA7">
              <a:alpha val="75000"/>
            </a:srgbClr>
          </a:solidFill>
          <a:ln>
            <a:solidFill>
              <a:srgbClr val="3CEFA7">
                <a:alpha val="55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Success Checklist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3880" y="1618488"/>
            <a:ext cx="3337560" cy="4096512"/>
          </a:xfrm>
          <a:prstGeom prst="rect">
            <a:avLst/>
          </a:prstGeom>
          <a:solidFill>
            <a:srgbClr val="0D1B2E">
              <a:alpha val="93000"/>
            </a:srgbClr>
          </a:solidFill>
          <a:ln>
            <a:solidFill>
              <a:srgbClr val="244966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✓ Volatility installed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✓ memory.raw captured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✓ SHA256 hash saved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✓ windows.info verified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✓ pslist/cmdline result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✓ Screenshots ready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9E4F2"/>
                </a:solidFill>
              </a:rPr>
              <a:t>✓ Report and PPT completed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85800" y="5943600"/>
            <a:ext cx="10835640" cy="384048"/>
          </a:xfrm>
          <a:prstGeom prst="rect">
            <a:avLst/>
          </a:prstGeom>
          <a:solidFill>
            <a:srgbClr val="11395A">
              <a:alpha val="85000"/>
            </a:srgbClr>
          </a:solidFill>
          <a:ln>
            <a:solidFill>
              <a:srgbClr val="27D6D6">
                <a:alpha val="6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Conclusion: Volatility 3 provides a repeatable way to inspect RAM, identify running processes, verify command history, and support forensic reporting.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NCERT Digital Forensics Internship 2026   |   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412480" y="6510528"/>
            <a:ext cx="32004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3A0"/>
                </a:solidFill>
              </a:rPr>
              <a:t>Memory Forensics Workflow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NCERT Internship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 Memory RAM Forensics - Volatility 3</dc:title>
  <dc:subject>Week 5 Memory RAM Forensics with Volatility 3</dc:subject>
  <dc:creator>Group 10</dc:creator>
  <cp:lastModifiedBy>Group 10</cp:lastModifiedBy>
  <cp:revision>1</cp:revision>
  <dcterms:created xsi:type="dcterms:W3CDTF">2026-08-04T02:48:34Z</dcterms:created>
  <dcterms:modified xsi:type="dcterms:W3CDTF">2026-08-04T02:48:34Z</dcterms:modified>
</cp:coreProperties>
</file>